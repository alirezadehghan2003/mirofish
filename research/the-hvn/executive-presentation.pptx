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agree a 90-day plan. The headline: the offer is distinctive but the website undersells and in places contradicts it. Most first actions are cheap, verified fixes; bigger bets follow a small real-world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what we know for certain (verified on the live site), what we do not know yet, and what to do first. Stress that competitor facts and CQC status are Unknown.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competitor data is Unknown: their sites and the CQC/ASA registers were blocked from the research environment, so only press and directories were available. Simulations cost $0.71 in total.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points are verified on the live site. Whether buyers value them, especially 'no membership', is a hypothesis to test (H06, H13).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£350 Discovery Consultation offers £100 credit against 'Functional Medicine Packages' that are not published. The £8k/£12k/£14.5k programmes have been retired or unpublished; their URLs return 404. Market anchor: Pillar's 12-week programme from £15,500 (reported, official PR Jan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bars are strengths (booking link everywhere, prices nearly everywhere). Red bars are defects verified on the live site. The 'London's leading' superlative is visible on the home page and present in the site-wide search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need no customer research. They need your approval to change the website (gate G4) and a clinical sign-off for the women's-health content.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CQC status: v1 said 'registered, not yet inspected' from a search result. It could not be re-verified and is now Unknown. CQC does not regulate some non-surgical cosmetic work, so a badge alone can imply more than it covers. Check at source before publishing any status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 verified defects, sand = simulated friction, grey = unknowns. Consultation, treatment and retention are unknown because we had no Pabau/CRM access. The validation plan fills that gap.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brief the content owners. Each blocker is verified; what each segment values is to be validated.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Hatched bars are reported figures (press, PR) shown only for context. Pillar's £15,500 12-week programme is the most recent (official PR, Jan 2026). HUM2N and Harrods 2026 prices could not be found.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S4 choices (n=11 fictional agents): specialists 5 (+3 drift or split), Lanesborough 1, HUM2N 1, The HVN 1 (conditional). Directional only: the seed foregrounded 'no membership' and 'not inspected'.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item carries its evidence label and confidence in the report. Opportunities are mostly hypotheses.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heatmap is a keyword count over all agent comments. High numbers often reflect what the seed or opening post asked: S2a literally asked 'Would you pay a consultation fee just to find out the total?'. Runs share facts, personas and one model, so they are not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Corrections: 'London's leading' is visible on the home page and in the schema description rather than visible on every page; priced pages are 148 (not 149); IV-evidence theme absent in S2a; luxury cues were raised (rarely). Downgrades: several simulation counts were echoes of leading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are R-IDs. Red = P1 (days 0–30), sand = P2 (31–60), grey = P3 (61–90 or gated). Impact is a hypothesis until measured against the baseline (R07).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website change needs your approval (gate G4). R04 needs budget approval for an external adviser.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Checkpoints: day 30 baseline and fixes; day 60 trust proof, ranges, validation read-out; day 90 management review against baseline and go/no-go on the starter pathway.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Targets are deliberately not set yet: without a baseline any target would be a guess.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Interviews use open questions first. The simulation showed that leading questions produce echoes. The HVN does recruitment under UK GDPR with consent; incentives are neutral (gift card or donation).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confidence is low for most because they come from simulation. Decision rules in validation-plan.md §5 say what each result changes.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risk is acting on simulated conclusions as if they were customer evidence; the gates prevent that.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has been deployed and nobody has been contacted. Each decision unlocks a specific gate.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files are in the repository under research/the-hvn/. Charts regenerate with charts/build_assets.py.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515600" cy="1280160"/>
          </a:xfrm>
          <a:prstGeom prst="rect">
            <a:avLst/>
          </a:prstGeom>
          <a:noFill/>
        </p:spPr>
        <p:txBody>
          <a:bodyPr wrap="square">
            <a:spAutoFit/>
          </a:bodyPr>
          <a:lstStyle/>
          <a:p>
            <a:pPr algn="l">
              <a:spcAft>
                <a:spcPts val="600"/>
              </a:spcAft>
            </a:pPr>
            <a:r>
              <a:rPr sz="4000" b="1">
                <a:solidFill>
                  <a:srgbClr val="FFFFFF"/>
                </a:solidFill>
              </a:rPr>
              <a:t>Making The HVN easy to trust and easy to buy</a:t>
            </a:r>
          </a:p>
        </p:txBody>
      </p:sp>
      <p:sp>
        <p:nvSpPr>
          <p:cNvPr id="4" name="TextBox 3"/>
          <p:cNvSpPr txBox="1"/>
          <p:nvPr/>
        </p:nvSpPr>
        <p:spPr>
          <a:xfrm>
            <a:off x="731520" y="3200400"/>
            <a:ext cx="10515600" cy="1463040"/>
          </a:xfrm>
          <a:prstGeom prst="rect">
            <a:avLst/>
          </a:prstGeom>
          <a:noFill/>
        </p:spPr>
        <p:txBody>
          <a:bodyPr wrap="square">
            <a:spAutoFit/>
          </a:bodyPr>
          <a:lstStyle/>
          <a:p>
            <a:pPr algn="l">
              <a:spcAft>
                <a:spcPts val="600"/>
              </a:spcAft>
            </a:pPr>
            <a:r>
              <a:rPr sz="2000" b="0">
                <a:solidFill>
                  <a:srgbClr val="FFFFFF"/>
                </a:solidFill>
              </a:rPr>
              <a:t>Evidence-backed strategy review for management</a:t>
            </a:r>
          </a:p>
          <a:p>
            <a:pPr algn="l">
              <a:spcAft>
                <a:spcPts val="600"/>
              </a:spcAft>
            </a:pPr>
            <a:r>
              <a:rPr sz="2000" b="0">
                <a:solidFill>
                  <a:srgbClr val="FFFFFF"/>
                </a:solidFill>
              </a:rPr>
              <a:t>15 October 2026 · Version 2.0</a:t>
            </a:r>
          </a:p>
        </p:txBody>
      </p:sp>
      <p:sp>
        <p:nvSpPr>
          <p:cNvPr id="5" name="TextBox 4"/>
          <p:cNvSpPr txBox="1"/>
          <p:nvPr/>
        </p:nvSpPr>
        <p:spPr>
          <a:xfrm>
            <a:off x="731520" y="5120640"/>
            <a:ext cx="10515600" cy="914400"/>
          </a:xfrm>
          <a:prstGeom prst="rect">
            <a:avLst/>
          </a:prstGeom>
          <a:noFill/>
        </p:spPr>
        <p:txBody>
          <a:bodyPr wrap="square">
            <a:spAutoFit/>
          </a:bodyPr>
          <a:lstStyle/>
          <a:p>
            <a:pPr algn="l">
              <a:spcAft>
                <a:spcPts val="600"/>
              </a:spcAft>
            </a:pPr>
            <a:r>
              <a:rPr sz="1300" b="0">
                <a:solidFill>
                  <a:srgbClr val="E9C46A"/>
                </a:solidFill>
              </a:rPr>
              <a:t>Built on a live audit of the-hvn.com, a competitor review and six MiroFish simulations. Simulated agents are fictional and are used only to generate hypotheses, not as customer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Executive summary</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A distinctive offer, undersold by the website. Fix first, then validate, then position.</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strategic-intelligence-report.md §1   |   The HVN strategy review · 15 Oct 2026 · 2</a:t>
            </a:r>
          </a:p>
        </p:txBody>
      </p:sp>
      <p:sp>
        <p:nvSpPr>
          <p:cNvPr id="6" name="Rectangle 5"/>
          <p:cNvSpPr/>
          <p:nvPr/>
        </p:nvSpPr>
        <p:spPr>
          <a:xfrm>
            <a:off x="457200" y="1737360"/>
            <a:ext cx="3657600" cy="448056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737360"/>
            <a:ext cx="82296" cy="44805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3383280" cy="457200"/>
          </a:xfrm>
          <a:prstGeom prst="rect">
            <a:avLst/>
          </a:prstGeom>
          <a:noFill/>
        </p:spPr>
        <p:txBody>
          <a:bodyPr wrap="square">
            <a:spAutoFit/>
          </a:bodyPr>
          <a:lstStyle/>
          <a:p>
            <a:pPr algn="l">
              <a:spcAft>
                <a:spcPts val="600"/>
              </a:spcAft>
            </a:pPr>
            <a:r>
              <a:rPr sz="1500" b="1">
                <a:solidFill>
                  <a:srgbClr val="2A9D8F"/>
                </a:solidFill>
              </a:rPr>
              <a:t>Strongest findings (verified)</a:t>
            </a:r>
          </a:p>
        </p:txBody>
      </p:sp>
      <p:sp>
        <p:nvSpPr>
          <p:cNvPr id="9" name="TextBox 8"/>
          <p:cNvSpPr txBox="1"/>
          <p:nvPr/>
        </p:nvSpPr>
        <p:spPr>
          <a:xfrm>
            <a:off x="640080" y="2286000"/>
            <a:ext cx="3383280" cy="3840480"/>
          </a:xfrm>
          <a:prstGeom prst="rect">
            <a:avLst/>
          </a:prstGeom>
          <a:noFill/>
        </p:spPr>
        <p:txBody>
          <a:bodyPr wrap="square">
            <a:spAutoFit/>
          </a:bodyPr>
          <a:lstStyle/>
          <a:p>
            <a:pPr algn="l">
              <a:spcAft>
                <a:spcPts val="600"/>
              </a:spcAft>
            </a:pPr>
            <a:r>
              <a:rPr sz="1300" b="0">
                <a:solidFill>
                  <a:srgbClr val="222222"/>
                </a:solidFill>
              </a:rPr>
              <a:t>• Menopause, PCOS and PMDD pages list acne treatments</a:t>
            </a:r>
          </a:p>
          <a:p>
            <a:pPr algn="l">
              <a:spcAft>
                <a:spcPts val="600"/>
              </a:spcAft>
            </a:pPr>
            <a:r>
              <a:rPr sz="1300" b="0">
                <a:solidFill>
                  <a:srgbClr val="222222"/>
                </a:solidFill>
              </a:rPr>
              <a:t>• 2 menu links return 404 on every page; 19 broken links</a:t>
            </a:r>
          </a:p>
          <a:p>
            <a:pPr algn="l">
              <a:spcAft>
                <a:spcPts val="600"/>
              </a:spcAft>
            </a:pPr>
            <a:r>
              <a:rPr sz="1300" b="0">
                <a:solidFill>
                  <a:srgbClr val="222222"/>
                </a:solidFill>
              </a:rPr>
              <a:t>• Plan step unpriced; old programme pages 404</a:t>
            </a:r>
          </a:p>
          <a:p>
            <a:pPr algn="l">
              <a:spcAft>
                <a:spcPts val="600"/>
              </a:spcAft>
            </a:pPr>
            <a:r>
              <a:rPr sz="1300" b="0">
                <a:solidFill>
                  <a:srgbClr val="222222"/>
                </a:solidFill>
              </a:rPr>
              <a:t>• CQC badge links nowhere; same 4 names on every page</a:t>
            </a:r>
          </a:p>
          <a:p>
            <a:pPr algn="l">
              <a:spcAft>
                <a:spcPts val="600"/>
              </a:spcAft>
            </a:pPr>
            <a:r>
              <a:rPr sz="1300" b="0">
                <a:solidFill>
                  <a:srgbClr val="222222"/>
                </a:solidFill>
              </a:rPr>
              <a:t>• Price conflicts; credit rule only on £350 consultation</a:t>
            </a:r>
          </a:p>
          <a:p>
            <a:pPr algn="l">
              <a:spcAft>
                <a:spcPts val="600"/>
              </a:spcAft>
            </a:pPr>
            <a:r>
              <a:rPr sz="1300" b="0">
                <a:solidFill>
                  <a:srgbClr val="222222"/>
                </a:solidFill>
              </a:rPr>
              <a:t>• IV claim wording; tap-to-call on 1 of 212 pages</a:t>
            </a:r>
          </a:p>
        </p:txBody>
      </p:sp>
      <p:sp>
        <p:nvSpPr>
          <p:cNvPr id="10" name="Rectangle 9"/>
          <p:cNvSpPr/>
          <p:nvPr/>
        </p:nvSpPr>
        <p:spPr>
          <a:xfrm>
            <a:off x="4297680" y="1737360"/>
            <a:ext cx="3657600" cy="448056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737360"/>
            <a:ext cx="82296" cy="448056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28800"/>
            <a:ext cx="3383280" cy="457200"/>
          </a:xfrm>
          <a:prstGeom prst="rect">
            <a:avLst/>
          </a:prstGeom>
          <a:noFill/>
        </p:spPr>
        <p:txBody>
          <a:bodyPr wrap="square">
            <a:spAutoFit/>
          </a:bodyPr>
          <a:lstStyle/>
          <a:p>
            <a:pPr algn="l">
              <a:spcAft>
                <a:spcPts val="600"/>
              </a:spcAft>
            </a:pPr>
            <a:r>
              <a:rPr sz="1500" b="1">
                <a:solidFill>
                  <a:srgbClr val="5C677D"/>
                </a:solidFill>
              </a:rPr>
              <a:t>Still unverified</a:t>
            </a:r>
          </a:p>
        </p:txBody>
      </p:sp>
      <p:sp>
        <p:nvSpPr>
          <p:cNvPr id="13" name="TextBox 12"/>
          <p:cNvSpPr txBox="1"/>
          <p:nvPr/>
        </p:nvSpPr>
        <p:spPr>
          <a:xfrm>
            <a:off x="4480560" y="2286000"/>
            <a:ext cx="3383280" cy="3840480"/>
          </a:xfrm>
          <a:prstGeom prst="rect">
            <a:avLst/>
          </a:prstGeom>
          <a:noFill/>
        </p:spPr>
        <p:txBody>
          <a:bodyPr wrap="square">
            <a:spAutoFit/>
          </a:bodyPr>
          <a:lstStyle/>
          <a:p>
            <a:pPr algn="l">
              <a:spcAft>
                <a:spcPts val="600"/>
              </a:spcAft>
            </a:pPr>
            <a:r>
              <a:rPr sz="1300" b="0">
                <a:solidFill>
                  <a:srgbClr val="222222"/>
                </a:solidFill>
              </a:rPr>
              <a:t>• The HVN's CQC inspection status and scope</a:t>
            </a:r>
          </a:p>
          <a:p>
            <a:pPr algn="l">
              <a:spcAft>
                <a:spcPts val="600"/>
              </a:spcAft>
            </a:pPr>
            <a:r>
              <a:rPr sz="1300" b="0">
                <a:solidFill>
                  <a:srgbClr val="222222"/>
                </a:solidFill>
              </a:rPr>
              <a:t>• Every competitor price, membership and rating</a:t>
            </a:r>
          </a:p>
          <a:p>
            <a:pPr algn="l">
              <a:spcAft>
                <a:spcPts val="600"/>
              </a:spcAft>
            </a:pPr>
            <a:r>
              <a:rPr sz="1300" b="0">
                <a:solidFill>
                  <a:srgbClr val="222222"/>
                </a:solidFill>
              </a:rPr>
              <a:t>• All customer reactions (simulated, partly primed)</a:t>
            </a:r>
          </a:p>
          <a:p>
            <a:pPr algn="l">
              <a:spcAft>
                <a:spcPts val="600"/>
              </a:spcAft>
            </a:pPr>
            <a:r>
              <a:rPr sz="1300" b="0">
                <a:solidFill>
                  <a:srgbClr val="222222"/>
                </a:solidFill>
              </a:rPr>
              <a:t>• Booking flow, response times, consultation output</a:t>
            </a:r>
          </a:p>
          <a:p>
            <a:pPr algn="l">
              <a:spcAft>
                <a:spcPts val="600"/>
              </a:spcAft>
            </a:pPr>
            <a:r>
              <a:rPr sz="1300" b="0">
                <a:solidFill>
                  <a:srgbClr val="222222"/>
                </a:solidFill>
              </a:rPr>
              <a:t>• Conversion, retention and reviews (no data access)</a:t>
            </a:r>
          </a:p>
        </p:txBody>
      </p:sp>
      <p:sp>
        <p:nvSpPr>
          <p:cNvPr id="14" name="Rectangle 13"/>
          <p:cNvSpPr/>
          <p:nvPr/>
        </p:nvSpPr>
        <p:spPr>
          <a:xfrm>
            <a:off x="8138160" y="1737360"/>
            <a:ext cx="3657600" cy="448056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737360"/>
            <a:ext cx="82296" cy="448056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828800"/>
            <a:ext cx="3383280" cy="457200"/>
          </a:xfrm>
          <a:prstGeom prst="rect">
            <a:avLst/>
          </a:prstGeom>
          <a:noFill/>
        </p:spPr>
        <p:txBody>
          <a:bodyPr wrap="square">
            <a:spAutoFit/>
          </a:bodyPr>
          <a:lstStyle/>
          <a:p>
            <a:pPr algn="l">
              <a:spcAft>
                <a:spcPts val="600"/>
              </a:spcAft>
            </a:pPr>
            <a:r>
              <a:rPr sz="1500" b="1">
                <a:solidFill>
                  <a:srgbClr val="C8553D"/>
                </a:solidFill>
              </a:rPr>
              <a:t>Do first (30 days)</a:t>
            </a:r>
          </a:p>
        </p:txBody>
      </p:sp>
      <p:sp>
        <p:nvSpPr>
          <p:cNvPr id="17" name="TextBox 16"/>
          <p:cNvSpPr txBox="1"/>
          <p:nvPr/>
        </p:nvSpPr>
        <p:spPr>
          <a:xfrm>
            <a:off x="8321040" y="2286000"/>
            <a:ext cx="3383280" cy="3840480"/>
          </a:xfrm>
          <a:prstGeom prst="rect">
            <a:avLst/>
          </a:prstGeom>
          <a:noFill/>
        </p:spPr>
        <p:txBody>
          <a:bodyPr wrap="square">
            <a:spAutoFit/>
          </a:bodyPr>
          <a:lstStyle/>
          <a:p>
            <a:pPr algn="l">
              <a:spcAft>
                <a:spcPts val="600"/>
              </a:spcAft>
            </a:pPr>
            <a:r>
              <a:rPr sz="1300" b="0">
                <a:solidFill>
                  <a:srgbClr val="222222"/>
                </a:solidFill>
              </a:rPr>
              <a:t>• Approve the fix list (R01, R02, R06, R10)</a:t>
            </a:r>
          </a:p>
          <a:p>
            <a:pPr algn="l">
              <a:spcAft>
                <a:spcPts val="600"/>
              </a:spcAft>
            </a:pPr>
            <a:r>
              <a:rPr sz="1300" b="0">
                <a:solidFill>
                  <a:srgbClr val="222222"/>
                </a:solidFill>
              </a:rPr>
              <a:t>• Verify CQC status; link the badge (R05)</a:t>
            </a:r>
          </a:p>
          <a:p>
            <a:pPr algn="l">
              <a:spcAft>
                <a:spcPts val="600"/>
              </a:spcAft>
            </a:pPr>
            <a:r>
              <a:rPr sz="1300" b="0">
                <a:solidFill>
                  <a:srgbClr val="222222"/>
                </a:solidFill>
              </a:rPr>
              <a:t>• Decide the programme tier (R03)</a:t>
            </a:r>
          </a:p>
          <a:p>
            <a:pPr algn="l">
              <a:spcAft>
                <a:spcPts val="600"/>
              </a:spcAft>
            </a:pPr>
            <a:r>
              <a:rPr sz="1300" b="0">
                <a:solidFill>
                  <a:srgbClr val="222222"/>
                </a:solidFill>
              </a:rPr>
              <a:t>• Commission the claims review (R04)</a:t>
            </a:r>
          </a:p>
          <a:p>
            <a:pPr algn="l">
              <a:spcAft>
                <a:spcPts val="600"/>
              </a:spcAft>
            </a:pPr>
            <a:r>
              <a:rPr sz="1300" b="0">
                <a:solidFill>
                  <a:srgbClr val="222222"/>
                </a:solidFill>
              </a:rPr>
              <a:t>• Start measurement + low-cost validation (R07; ≈£1.0–1.8k)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How to read the evidence</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Every statement carries a source label and a confidence level</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strategic-intelligence-report.md §0; evidence/sources.md   |   The HVN strategy review · 15 Oct 2026 · 3</a:t>
            </a:r>
          </a:p>
        </p:txBody>
      </p:sp>
      <p:graphicFrame>
        <p:nvGraphicFramePr>
          <p:cNvPr id="6" name="Table 5"/>
          <p:cNvGraphicFramePr>
            <a:graphicFrameLocks noGrp="1"/>
          </p:cNvGraphicFramePr>
          <p:nvPr/>
        </p:nvGraphicFramePr>
        <p:xfrm>
          <a:off x="457200" y="1737360"/>
          <a:ext cx="6949440" cy="2743200"/>
        </p:xfrm>
        <a:graphic>
          <a:graphicData uri="http://schemas.openxmlformats.org/drawingml/2006/table">
            <a:tbl>
              <a:tblPr firstRow="1" bandRow="1">
                <a:tableStyleId>{5C22544A-7EE6-4342-B048-85BDC9FD1C3A}</a:tableStyleId>
              </a:tblPr>
              <a:tblGrid>
                <a:gridCol w="1645920"/>
                <a:gridCol w="3566160"/>
                <a:gridCol w="1737360"/>
              </a:tblGrid>
              <a:tr h="457200">
                <a:tc>
                  <a:txBody>
                    <a:bodyPr/>
                    <a:lstStyle/>
                    <a:p>
                      <a:r>
                        <a:rPr sz="1200" b="1">
                          <a:solidFill>
                            <a:srgbClr val="FFFFFF"/>
                          </a:solidFill>
                        </a:rPr>
                        <a:t>Label</a:t>
                      </a:r>
                    </a:p>
                  </a:txBody>
                  <a:tcPr marL="54864" marR="54864" marT="27432" marB="27432">
                    <a:solidFill>
                      <a:srgbClr val="1F3A5F"/>
                    </a:solidFill>
                  </a:tcPr>
                </a:tc>
                <a:tc>
                  <a:txBody>
                    <a:bodyPr/>
                    <a:lstStyle/>
                    <a:p>
                      <a:r>
                        <a:rPr sz="1200" b="1">
                          <a:solidFill>
                            <a:srgbClr val="FFFFFF"/>
                          </a:solidFill>
                        </a:rPr>
                        <a:t>Meaning</a:t>
                      </a:r>
                    </a:p>
                  </a:txBody>
                  <a:tcPr marL="54864" marR="54864" marT="27432" marB="27432">
                    <a:solidFill>
                      <a:srgbClr val="1F3A5F"/>
                    </a:solidFill>
                  </a:tcPr>
                </a:tc>
                <a:tc>
                  <a:txBody>
                    <a:bodyPr/>
                    <a:lstStyle/>
                    <a:p>
                      <a:r>
                        <a:rPr sz="1200" b="1">
                          <a:solidFill>
                            <a:srgbClr val="FFFFFF"/>
                          </a:solidFill>
                        </a:rPr>
                        <a:t>Decision use</a:t>
                      </a:r>
                    </a:p>
                  </a:txBody>
                  <a:tcPr marL="54864" marR="54864" marT="27432" marB="27432">
                    <a:solidFill>
                      <a:srgbClr val="1F3A5F"/>
                    </a:solidFill>
                  </a:tcPr>
                </a:tc>
              </a:tr>
              <a:tr h="457200">
                <a:tc>
                  <a:txBody>
                    <a:bodyPr/>
                    <a:lstStyle/>
                    <a:p>
                      <a:r>
                        <a:rPr sz="1200" b="0">
                          <a:solidFill>
                            <a:srgbClr val="222222"/>
                          </a:solidFill>
                        </a:rPr>
                        <a:t>[V] Verified</a:t>
                      </a:r>
                    </a:p>
                  </a:txBody>
                  <a:tcPr marL="54864" marR="54864" marT="27432" marB="27432">
                    <a:solidFill>
                      <a:srgbClr val="FFFFFF"/>
                    </a:solidFill>
                  </a:tcPr>
                </a:tc>
                <a:tc>
                  <a:txBody>
                    <a:bodyPr/>
                    <a:lstStyle/>
                    <a:p>
                      <a:r>
                        <a:rPr sz="1200" b="0">
                          <a:solidFill>
                            <a:srgbClr val="222222"/>
                          </a:solidFill>
                        </a:rPr>
                        <a:t>Loaded from the-hvn.com (crawl + re-check 15 Oct)</a:t>
                      </a:r>
                    </a:p>
                  </a:txBody>
                  <a:tcPr marL="54864" marR="54864" marT="27432" marB="27432">
                    <a:solidFill>
                      <a:srgbClr val="FFFFFF"/>
                    </a:solidFill>
                  </a:tcPr>
                </a:tc>
                <a:tc>
                  <a:txBody>
                    <a:bodyPr/>
                    <a:lstStyle/>
                    <a:p>
                      <a:r>
                        <a:rPr sz="1200" b="0">
                          <a:solidFill>
                            <a:srgbClr val="222222"/>
                          </a:solidFill>
                        </a:rPr>
                        <a:t>Yes</a:t>
                      </a:r>
                    </a:p>
                  </a:txBody>
                  <a:tcPr marL="54864" marR="54864" marT="27432" marB="27432">
                    <a:solidFill>
                      <a:srgbClr val="FFFFFF"/>
                    </a:solidFill>
                  </a:tcPr>
                </a:tc>
              </a:tr>
              <a:tr h="457200">
                <a:tc>
                  <a:txBody>
                    <a:bodyPr/>
                    <a:lstStyle/>
                    <a:p>
                      <a:r>
                        <a:rPr sz="1200" b="0">
                          <a:solidFill>
                            <a:srgbClr val="222222"/>
                          </a:solidFill>
                        </a:rPr>
                        <a:t>[Reg] Regulator</a:t>
                      </a:r>
                    </a:p>
                  </a:txBody>
                  <a:tcPr marL="54864" marR="54864" marT="27432" marB="27432">
                    <a:solidFill>
                      <a:srgbClr val="EDF2F4"/>
                    </a:solidFill>
                  </a:tcPr>
                </a:tc>
                <a:tc>
                  <a:txBody>
                    <a:bodyPr/>
                    <a:lstStyle/>
                    <a:p>
                      <a:r>
                        <a:rPr sz="1200" b="0">
                          <a:solidFill>
                            <a:srgbClr val="222222"/>
                          </a:solidFill>
                        </a:rPr>
                        <a:t>ASA/CQC material found via search</a:t>
                      </a:r>
                    </a:p>
                  </a:txBody>
                  <a:tcPr marL="54864" marR="54864" marT="27432" marB="27432">
                    <a:solidFill>
                      <a:srgbClr val="EDF2F4"/>
                    </a:solidFill>
                  </a:tcPr>
                </a:tc>
                <a:tc>
                  <a:txBody>
                    <a:bodyPr/>
                    <a:lstStyle/>
                    <a:p>
                      <a:r>
                        <a:rPr sz="1200" b="0">
                          <a:solidFill>
                            <a:srgbClr val="222222"/>
                          </a:solidFill>
                        </a:rPr>
                        <a:t>Context; confirm</a:t>
                      </a:r>
                    </a:p>
                  </a:txBody>
                  <a:tcPr marL="54864" marR="54864" marT="27432" marB="27432">
                    <a:solidFill>
                      <a:srgbClr val="EDF2F4"/>
                    </a:solidFill>
                  </a:tcPr>
                </a:tc>
              </a:tr>
              <a:tr h="457200">
                <a:tc>
                  <a:txBody>
                    <a:bodyPr/>
                    <a:lstStyle/>
                    <a:p>
                      <a:r>
                        <a:rPr sz="1200" b="0">
                          <a:solidFill>
                            <a:srgbClr val="222222"/>
                          </a:solidFill>
                        </a:rPr>
                        <a:t>[R] Reported</a:t>
                      </a:r>
                    </a:p>
                  </a:txBody>
                  <a:tcPr marL="54864" marR="54864" marT="27432" marB="27432">
                    <a:solidFill>
                      <a:srgbClr val="FFFFFF"/>
                    </a:solidFill>
                  </a:tcPr>
                </a:tc>
                <a:tc>
                  <a:txBody>
                    <a:bodyPr/>
                    <a:lstStyle/>
                    <a:p>
                      <a:r>
                        <a:rPr sz="1200" b="0">
                          <a:solidFill>
                            <a:srgbClr val="222222"/>
                          </a:solidFill>
                        </a:rPr>
                        <a:t>Press, PR, directories (all competitor facts)</a:t>
                      </a:r>
                    </a:p>
                  </a:txBody>
                  <a:tcPr marL="54864" marR="54864" marT="27432" marB="27432">
                    <a:solidFill>
                      <a:srgbClr val="FFFFFF"/>
                    </a:solidFill>
                  </a:tcPr>
                </a:tc>
                <a:tc>
                  <a:txBody>
                    <a:bodyPr/>
                    <a:lstStyle/>
                    <a:p>
                      <a:r>
                        <a:rPr sz="1200" b="0">
                          <a:solidFill>
                            <a:srgbClr val="222222"/>
                          </a:solidFill>
                        </a:rPr>
                        <a:t>No: treated as Unknown</a:t>
                      </a:r>
                    </a:p>
                  </a:txBody>
                  <a:tcPr marL="54864" marR="54864" marT="27432" marB="27432">
                    <a:solidFill>
                      <a:srgbClr val="FFFFFF"/>
                    </a:solidFill>
                  </a:tcPr>
                </a:tc>
              </a:tr>
              <a:tr h="457200">
                <a:tc>
                  <a:txBody>
                    <a:bodyPr/>
                    <a:lstStyle/>
                    <a:p>
                      <a:r>
                        <a:rPr sz="1200" b="0">
                          <a:solidFill>
                            <a:srgbClr val="222222"/>
                          </a:solidFill>
                        </a:rPr>
                        <a:t>[S] Simulated</a:t>
                      </a:r>
                    </a:p>
                  </a:txBody>
                  <a:tcPr marL="54864" marR="54864" marT="27432" marB="27432">
                    <a:solidFill>
                      <a:srgbClr val="EDF2F4"/>
                    </a:solidFill>
                  </a:tcPr>
                </a:tc>
                <a:tc>
                  <a:txBody>
                    <a:bodyPr/>
                    <a:lstStyle/>
                    <a:p>
                      <a:r>
                        <a:rPr sz="1200" b="0">
                          <a:solidFill>
                            <a:srgbClr val="222222"/>
                          </a:solidFill>
                        </a:rPr>
                        <a:t>Fictional LLM agents (MiroFish)</a:t>
                      </a:r>
                    </a:p>
                  </a:txBody>
                  <a:tcPr marL="54864" marR="54864" marT="27432" marB="27432">
                    <a:solidFill>
                      <a:srgbClr val="EDF2F4"/>
                    </a:solidFill>
                  </a:tcPr>
                </a:tc>
                <a:tc>
                  <a:txBody>
                    <a:bodyPr/>
                    <a:lstStyle/>
                    <a:p>
                      <a:r>
                        <a:rPr sz="1200" b="0">
                          <a:solidFill>
                            <a:srgbClr val="222222"/>
                          </a:solidFill>
                        </a:rPr>
                        <a:t>No: hypothesis</a:t>
                      </a:r>
                    </a:p>
                  </a:txBody>
                  <a:tcPr marL="54864" marR="54864" marT="27432" marB="27432">
                    <a:solidFill>
                      <a:srgbClr val="EDF2F4"/>
                    </a:solidFill>
                  </a:tcPr>
                </a:tc>
              </a:tr>
              <a:tr h="457200">
                <a:tc>
                  <a:txBody>
                    <a:bodyPr/>
                    <a:lstStyle/>
                    <a:p>
                      <a:r>
                        <a:rPr sz="1200" b="0">
                          <a:solidFill>
                            <a:srgbClr val="222222"/>
                          </a:solidFill>
                        </a:rPr>
                        <a:t>[?] Unknown</a:t>
                      </a:r>
                    </a:p>
                  </a:txBody>
                  <a:tcPr marL="54864" marR="54864" marT="27432" marB="27432">
                    <a:solidFill>
                      <a:srgbClr val="FFFFFF"/>
                    </a:solidFill>
                  </a:tcPr>
                </a:tc>
                <a:tc>
                  <a:txBody>
                    <a:bodyPr/>
                    <a:lstStyle/>
                    <a:p>
                      <a:r>
                        <a:rPr sz="1200" b="0">
                          <a:solidFill>
                            <a:srgbClr val="222222"/>
                          </a:solidFill>
                        </a:rPr>
                        <a:t>No data available</a:t>
                      </a:r>
                    </a:p>
                  </a:txBody>
                  <a:tcPr marL="54864" marR="54864" marT="27432" marB="27432">
                    <a:solidFill>
                      <a:srgbClr val="FFFFFF"/>
                    </a:solidFill>
                  </a:tcPr>
                </a:tc>
                <a:tc>
                  <a:txBody>
                    <a:bodyPr/>
                    <a:lstStyle/>
                    <a:p>
                      <a:r>
                        <a:rPr sz="1200" b="0">
                          <a:solidFill>
                            <a:srgbClr val="222222"/>
                          </a:solidFill>
                        </a:rPr>
                        <a:t>Must be checked</a:t>
                      </a:r>
                    </a:p>
                  </a:txBody>
                  <a:tcPr marL="54864" marR="54864" marT="27432" marB="27432">
                    <a:solidFill>
                      <a:srgbClr val="FFFFFF"/>
                    </a:solidFill>
                  </a:tcPr>
                </a:tc>
              </a:tr>
            </a:tbl>
          </a:graphicData>
        </a:graphic>
      </p:graphicFrame>
      <p:sp>
        <p:nvSpPr>
          <p:cNvPr id="7" name="Rectangle 6"/>
          <p:cNvSpPr/>
          <p:nvPr/>
        </p:nvSpPr>
        <p:spPr>
          <a:xfrm>
            <a:off x="7680960" y="1737360"/>
            <a:ext cx="4023360" cy="420624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0" y="1737360"/>
            <a:ext cx="82296" cy="42062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828800"/>
            <a:ext cx="3749040" cy="457200"/>
          </a:xfrm>
          <a:prstGeom prst="rect">
            <a:avLst/>
          </a:prstGeom>
          <a:noFill/>
        </p:spPr>
        <p:txBody>
          <a:bodyPr wrap="square">
            <a:spAutoFit/>
          </a:bodyPr>
          <a:lstStyle/>
          <a:p>
            <a:pPr algn="l">
              <a:spcAft>
                <a:spcPts val="600"/>
              </a:spcAft>
            </a:pPr>
            <a:r>
              <a:rPr sz="1500" b="1">
                <a:solidFill>
                  <a:srgbClr val="1F3A5F"/>
                </a:solidFill>
              </a:rPr>
              <a:t>What we could and could not see</a:t>
            </a:r>
          </a:p>
        </p:txBody>
      </p:sp>
      <p:sp>
        <p:nvSpPr>
          <p:cNvPr id="10" name="TextBox 9"/>
          <p:cNvSpPr txBox="1"/>
          <p:nvPr/>
        </p:nvSpPr>
        <p:spPr>
          <a:xfrm>
            <a:off x="7863840" y="2286000"/>
            <a:ext cx="3749040" cy="3566160"/>
          </a:xfrm>
          <a:prstGeom prst="rect">
            <a:avLst/>
          </a:prstGeom>
          <a:noFill/>
        </p:spPr>
        <p:txBody>
          <a:bodyPr wrap="square">
            <a:spAutoFit/>
          </a:bodyPr>
          <a:lstStyle/>
          <a:p>
            <a:pPr algn="l">
              <a:spcAft>
                <a:spcPts val="600"/>
              </a:spcAft>
            </a:pPr>
            <a:r>
              <a:rPr sz="1200" b="0">
                <a:solidFill>
                  <a:srgbClr val="222222"/>
                </a:solidFill>
              </a:rPr>
              <a:t>• Could: all 216 website URLs; prices; links; claims</a:t>
            </a:r>
          </a:p>
          <a:p>
            <a:pPr algn="l">
              <a:spcAft>
                <a:spcPts val="600"/>
              </a:spcAft>
            </a:pPr>
            <a:r>
              <a:rPr sz="1200" b="0">
                <a:solidFill>
                  <a:srgbClr val="222222"/>
                </a:solidFill>
              </a:rPr>
              <a:t>• Could not: competitor sites, CQC/ASA registers, Pabau booking</a:t>
            </a:r>
          </a:p>
          <a:p>
            <a:pPr algn="l">
              <a:spcAft>
                <a:spcPts val="600"/>
              </a:spcAft>
            </a:pPr>
            <a:r>
              <a:rPr sz="1200" b="0">
                <a:solidFill>
                  <a:srgbClr val="222222"/>
                </a:solidFill>
              </a:rPr>
              <a:t>• Had no: analytics, bookings, CRM, reviews, staff input</a:t>
            </a:r>
          </a:p>
          <a:p>
            <a:pPr algn="l">
              <a:spcAft>
                <a:spcPts val="600"/>
              </a:spcAft>
            </a:pPr>
            <a:r>
              <a:rPr sz="1200" b="0">
                <a:solidFill>
                  <a:srgbClr val="222222"/>
                </a:solidFill>
              </a:rPr>
              <a:t>• Simulations: 6 runs, 57 interviews, $0.713 total</a:t>
            </a:r>
          </a:p>
          <a:p>
            <a:pPr algn="l">
              <a:spcAft>
                <a:spcPts val="600"/>
              </a:spcAft>
            </a:pPr>
            <a:r>
              <a:rPr sz="1200" b="0">
                <a:solidFill>
                  <a:srgbClr val="222222"/>
                </a:solidFill>
              </a:rPr>
              <a:t>• No new simulations or paid API calls for this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The offer is genuinely distinctive</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Verified differentiators that rivals are not reported to combine</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the-hvn.com crawl 15 Oct 2026; competitor-benchmark.md   |   The HVN strategy review · 15 Oct 2026 · 4</a:t>
            </a:r>
          </a:p>
        </p:txBody>
      </p:sp>
      <p:sp>
        <p:nvSpPr>
          <p:cNvPr id="6" name="Rectangle 5"/>
          <p:cNvSpPr/>
          <p:nvPr/>
        </p:nvSpPr>
        <p:spPr>
          <a:xfrm>
            <a:off x="457200" y="1828800"/>
            <a:ext cx="2103120" cy="329184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10312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57400"/>
            <a:ext cx="1920240" cy="822960"/>
          </a:xfrm>
          <a:prstGeom prst="rect">
            <a:avLst/>
          </a:prstGeom>
          <a:noFill/>
        </p:spPr>
        <p:txBody>
          <a:bodyPr wrap="square">
            <a:spAutoFit/>
          </a:bodyPr>
          <a:lstStyle/>
          <a:p>
            <a:pPr algn="l">
              <a:spcAft>
                <a:spcPts val="600"/>
              </a:spcAft>
            </a:pPr>
            <a:r>
              <a:rPr sz="1700" b="1">
                <a:solidFill>
                  <a:srgbClr val="1F3A5F"/>
                </a:solidFill>
              </a:rPr>
              <a:t>One doctor-led team</a:t>
            </a:r>
          </a:p>
        </p:txBody>
      </p:sp>
      <p:sp>
        <p:nvSpPr>
          <p:cNvPr id="9" name="TextBox 8"/>
          <p:cNvSpPr txBox="1"/>
          <p:nvPr/>
        </p:nvSpPr>
        <p:spPr>
          <a:xfrm>
            <a:off x="566928" y="2926080"/>
            <a:ext cx="1920240" cy="2103120"/>
          </a:xfrm>
          <a:prstGeom prst="rect">
            <a:avLst/>
          </a:prstGeom>
          <a:noFill/>
        </p:spPr>
        <p:txBody>
          <a:bodyPr wrap="square">
            <a:spAutoFit/>
          </a:bodyPr>
          <a:lstStyle/>
          <a:p>
            <a:pPr algn="l">
              <a:spcAft>
                <a:spcPts val="600"/>
              </a:spcAft>
            </a:pPr>
            <a:r>
              <a:rPr sz="1300" b="0">
                <a:solidFill>
                  <a:srgbClr val="222222"/>
                </a:solidFill>
              </a:rPr>
              <a:t>GP-trained Medical Director; women's-health doctor; acupuncture; osteopathy; nursing</a:t>
            </a:r>
          </a:p>
        </p:txBody>
      </p:sp>
      <p:sp>
        <p:nvSpPr>
          <p:cNvPr id="10" name="Rectangle 9"/>
          <p:cNvSpPr/>
          <p:nvPr/>
        </p:nvSpPr>
        <p:spPr>
          <a:xfrm>
            <a:off x="2743200" y="1828800"/>
            <a:ext cx="2103120" cy="329184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0" y="1828800"/>
            <a:ext cx="210312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2928" y="2057400"/>
            <a:ext cx="1920240" cy="822960"/>
          </a:xfrm>
          <a:prstGeom prst="rect">
            <a:avLst/>
          </a:prstGeom>
          <a:noFill/>
        </p:spPr>
        <p:txBody>
          <a:bodyPr wrap="square">
            <a:spAutoFit/>
          </a:bodyPr>
          <a:lstStyle/>
          <a:p>
            <a:pPr algn="l">
              <a:spcAft>
                <a:spcPts val="600"/>
              </a:spcAft>
            </a:pPr>
            <a:r>
              <a:rPr sz="1700" b="1">
                <a:solidFill>
                  <a:srgbClr val="1F3A5F"/>
                </a:solidFill>
              </a:rPr>
              <a:t>Published prices</a:t>
            </a:r>
          </a:p>
        </p:txBody>
      </p:sp>
      <p:sp>
        <p:nvSpPr>
          <p:cNvPr id="13" name="TextBox 12"/>
          <p:cNvSpPr txBox="1"/>
          <p:nvPr/>
        </p:nvSpPr>
        <p:spPr>
          <a:xfrm>
            <a:off x="2852928" y="2926080"/>
            <a:ext cx="1920240" cy="2103120"/>
          </a:xfrm>
          <a:prstGeom prst="rect">
            <a:avLst/>
          </a:prstGeom>
          <a:noFill/>
        </p:spPr>
        <p:txBody>
          <a:bodyPr wrap="square">
            <a:spAutoFit/>
          </a:bodyPr>
          <a:lstStyle/>
          <a:p>
            <a:pPr algn="l">
              <a:spcAft>
                <a:spcPts val="600"/>
              </a:spcAft>
            </a:pPr>
            <a:r>
              <a:rPr sz="1300" b="0">
                <a:solidFill>
                  <a:srgbClr val="222222"/>
                </a:solidFill>
              </a:rPr>
              <a:t>Prices on ~98% of service pages; 342 price points</a:t>
            </a:r>
          </a:p>
        </p:txBody>
      </p:sp>
      <p:sp>
        <p:nvSpPr>
          <p:cNvPr id="14" name="Rectangle 13"/>
          <p:cNvSpPr/>
          <p:nvPr/>
        </p:nvSpPr>
        <p:spPr>
          <a:xfrm>
            <a:off x="5029200" y="1828800"/>
            <a:ext cx="2103120" cy="329184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0" y="1828800"/>
            <a:ext cx="210312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2057400"/>
            <a:ext cx="1920240" cy="822960"/>
          </a:xfrm>
          <a:prstGeom prst="rect">
            <a:avLst/>
          </a:prstGeom>
          <a:noFill/>
        </p:spPr>
        <p:txBody>
          <a:bodyPr wrap="square">
            <a:spAutoFit/>
          </a:bodyPr>
          <a:lstStyle/>
          <a:p>
            <a:pPr algn="l">
              <a:spcAft>
                <a:spcPts val="600"/>
              </a:spcAft>
            </a:pPr>
            <a:r>
              <a:rPr sz="1700" b="1">
                <a:solidFill>
                  <a:srgbClr val="1F3A5F"/>
                </a:solidFill>
              </a:rPr>
              <a:t>No membership</a:t>
            </a:r>
          </a:p>
        </p:txBody>
      </p:sp>
      <p:sp>
        <p:nvSpPr>
          <p:cNvPr id="17" name="TextBox 16"/>
          <p:cNvSpPr txBox="1"/>
          <p:nvPr/>
        </p:nvSpPr>
        <p:spPr>
          <a:xfrm>
            <a:off x="5138928" y="2926080"/>
            <a:ext cx="1920240" cy="2103120"/>
          </a:xfrm>
          <a:prstGeom prst="rect">
            <a:avLst/>
          </a:prstGeom>
          <a:noFill/>
        </p:spPr>
        <p:txBody>
          <a:bodyPr wrap="square">
            <a:spAutoFit/>
          </a:bodyPr>
          <a:lstStyle/>
          <a:p>
            <a:pPr algn="l">
              <a:spcAft>
                <a:spcPts val="600"/>
              </a:spcAft>
            </a:pPr>
            <a:r>
              <a:rPr sz="1300" b="0">
                <a:solidFill>
                  <a:srgbClr val="222222"/>
                </a:solidFill>
              </a:rPr>
              <a:t>Pay per visit; no joining fee (rivals reportedly sell memberships)</a:t>
            </a:r>
          </a:p>
        </p:txBody>
      </p:sp>
      <p:sp>
        <p:nvSpPr>
          <p:cNvPr id="18" name="Rectangle 17"/>
          <p:cNvSpPr/>
          <p:nvPr/>
        </p:nvSpPr>
        <p:spPr>
          <a:xfrm>
            <a:off x="7315200" y="1828800"/>
            <a:ext cx="2103120" cy="329184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1828800"/>
            <a:ext cx="210312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4928" y="2057400"/>
            <a:ext cx="1920240" cy="822960"/>
          </a:xfrm>
          <a:prstGeom prst="rect">
            <a:avLst/>
          </a:prstGeom>
          <a:noFill/>
        </p:spPr>
        <p:txBody>
          <a:bodyPr wrap="square">
            <a:spAutoFit/>
          </a:bodyPr>
          <a:lstStyle/>
          <a:p>
            <a:pPr algn="l">
              <a:spcAft>
                <a:spcPts val="600"/>
              </a:spcAft>
            </a:pPr>
            <a:r>
              <a:rPr sz="1700" b="1">
                <a:solidFill>
                  <a:srgbClr val="1F3A5F"/>
                </a:solidFill>
              </a:rPr>
              <a:t>Doctor check before IV</a:t>
            </a:r>
          </a:p>
        </p:txBody>
      </p:sp>
      <p:sp>
        <p:nvSpPr>
          <p:cNvPr id="21" name="TextBox 20"/>
          <p:cNvSpPr txBox="1"/>
          <p:nvPr/>
        </p:nvSpPr>
        <p:spPr>
          <a:xfrm>
            <a:off x="7424928" y="2926080"/>
            <a:ext cx="1920240" cy="2103120"/>
          </a:xfrm>
          <a:prstGeom prst="rect">
            <a:avLst/>
          </a:prstGeom>
          <a:noFill/>
        </p:spPr>
        <p:txBody>
          <a:bodyPr wrap="square">
            <a:spAutoFit/>
          </a:bodyPr>
          <a:lstStyle/>
          <a:p>
            <a:pPr algn="l">
              <a:spcAft>
                <a:spcPts val="600"/>
              </a:spcAft>
            </a:pPr>
            <a:r>
              <a:rPr sz="1300" b="0">
                <a:solidFill>
                  <a:srgbClr val="222222"/>
                </a:solidFill>
              </a:rPr>
              <a:t>'a brief 10 minute consultation with one of our doctors'</a:t>
            </a:r>
          </a:p>
        </p:txBody>
      </p:sp>
      <p:sp>
        <p:nvSpPr>
          <p:cNvPr id="22" name="Rectangle 21"/>
          <p:cNvSpPr/>
          <p:nvPr/>
        </p:nvSpPr>
        <p:spPr>
          <a:xfrm>
            <a:off x="9601200" y="1828800"/>
            <a:ext cx="2103120" cy="329184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828800"/>
            <a:ext cx="2103120" cy="1097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10928" y="2057400"/>
            <a:ext cx="1920240" cy="822960"/>
          </a:xfrm>
          <a:prstGeom prst="rect">
            <a:avLst/>
          </a:prstGeom>
          <a:noFill/>
        </p:spPr>
        <p:txBody>
          <a:bodyPr wrap="square">
            <a:spAutoFit/>
          </a:bodyPr>
          <a:lstStyle/>
          <a:p>
            <a:pPr algn="l">
              <a:spcAft>
                <a:spcPts val="600"/>
              </a:spcAft>
            </a:pPr>
            <a:r>
              <a:rPr sz="1700" b="1">
                <a:solidFill>
                  <a:srgbClr val="1F3A5F"/>
                </a:solidFill>
              </a:rPr>
              <a:t>Women's-health capability</a:t>
            </a:r>
          </a:p>
        </p:txBody>
      </p:sp>
      <p:sp>
        <p:nvSpPr>
          <p:cNvPr id="25" name="TextBox 24"/>
          <p:cNvSpPr txBox="1"/>
          <p:nvPr/>
        </p:nvSpPr>
        <p:spPr>
          <a:xfrm>
            <a:off x="9710928" y="2926080"/>
            <a:ext cx="1920240" cy="2103120"/>
          </a:xfrm>
          <a:prstGeom prst="rect">
            <a:avLst/>
          </a:prstGeom>
          <a:noFill/>
        </p:spPr>
        <p:txBody>
          <a:bodyPr wrap="square">
            <a:spAutoFit/>
          </a:bodyPr>
          <a:lstStyle/>
          <a:p>
            <a:pPr algn="l">
              <a:spcAft>
                <a:spcPts val="600"/>
              </a:spcAft>
            </a:pPr>
            <a:r>
              <a:rPr sz="1300" b="0">
                <a:solidFill>
                  <a:srgbClr val="222222"/>
                </a:solidFill>
              </a:rPr>
              <a:t>Doctor + extensive TCM women's-health content</a:t>
            </a:r>
          </a:p>
        </p:txBody>
      </p:sp>
      <p:sp>
        <p:nvSpPr>
          <p:cNvPr id="26" name="TextBox 25"/>
          <p:cNvSpPr txBox="1"/>
          <p:nvPr/>
        </p:nvSpPr>
        <p:spPr>
          <a:xfrm>
            <a:off x="457200" y="5394960"/>
            <a:ext cx="11247120" cy="822960"/>
          </a:xfrm>
          <a:prstGeom prst="rect">
            <a:avLst/>
          </a:prstGeom>
          <a:noFill/>
        </p:spPr>
        <p:txBody>
          <a:bodyPr wrap="square">
            <a:spAutoFit/>
          </a:bodyPr>
          <a:lstStyle/>
          <a:p>
            <a:pPr algn="l">
              <a:spcAft>
                <a:spcPts val="600"/>
              </a:spcAft>
            </a:pPr>
            <a:r>
              <a:rPr sz="1500" b="1">
                <a:solidFill>
                  <a:srgbClr val="1F3A5F"/>
                </a:solidFill>
              </a:rPr>
              <a:t>Positioning candidate [H, to test]: "Doctor-led care for skin, energy and long-term health: one Knightsbridge team, clear prices, no membership."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The biggest commercial gap: 'price fog' after the first step</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Transparent up to ~£750, then nothing priced except 8R 'from £3,000'</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evidence/hvn-price-register-2026-10-15.csv; live re-check   |   The HVN strategy review · 15 Oct 2026 · 5</a:t>
            </a:r>
          </a:p>
        </p:txBody>
      </p:sp>
      <p:pic>
        <p:nvPicPr>
          <p:cNvPr id="6" name="Picture 5" descr="price-ladder.png"/>
          <p:cNvPicPr>
            <a:picLocks noChangeAspect="1"/>
          </p:cNvPicPr>
          <p:nvPr/>
        </p:nvPicPr>
        <p:blipFill>
          <a:blip r:embed="rId3"/>
          <a:stretch>
            <a:fillRect/>
          </a:stretch>
        </p:blipFill>
        <p:spPr>
          <a:xfrm>
            <a:off x="365760" y="1645920"/>
            <a:ext cx="7680960" cy="3077675"/>
          </a:xfrm>
          <a:prstGeom prst="rect">
            <a:avLst/>
          </a:prstGeom>
        </p:spPr>
      </p:pic>
      <p:sp>
        <p:nvSpPr>
          <p:cNvPr id="7" name="Rectangle 6"/>
          <p:cNvSpPr/>
          <p:nvPr/>
        </p:nvSpPr>
        <p:spPr>
          <a:xfrm>
            <a:off x="8229600" y="1737360"/>
            <a:ext cx="3566160"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1737360"/>
            <a:ext cx="82296" cy="438912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828800"/>
            <a:ext cx="3291840" cy="457200"/>
          </a:xfrm>
          <a:prstGeom prst="rect">
            <a:avLst/>
          </a:prstGeom>
          <a:noFill/>
        </p:spPr>
        <p:txBody>
          <a:bodyPr wrap="square">
            <a:spAutoFit/>
          </a:bodyPr>
          <a:lstStyle/>
          <a:p>
            <a:pPr algn="l">
              <a:spcAft>
                <a:spcPts val="600"/>
              </a:spcAft>
            </a:pPr>
            <a:r>
              <a:rPr sz="1500" b="1">
                <a:solidFill>
                  <a:srgbClr val="C8553D"/>
                </a:solidFill>
              </a:rPr>
              <a:t>What to do</a:t>
            </a:r>
          </a:p>
        </p:txBody>
      </p:sp>
      <p:sp>
        <p:nvSpPr>
          <p:cNvPr id="10" name="TextBox 9"/>
          <p:cNvSpPr txBox="1"/>
          <p:nvPr/>
        </p:nvSpPr>
        <p:spPr>
          <a:xfrm>
            <a:off x="8412480" y="2286000"/>
            <a:ext cx="3291840" cy="3749040"/>
          </a:xfrm>
          <a:prstGeom prst="rect">
            <a:avLst/>
          </a:prstGeom>
          <a:noFill/>
        </p:spPr>
        <p:txBody>
          <a:bodyPr wrap="square">
            <a:spAutoFit/>
          </a:bodyPr>
          <a:lstStyle/>
          <a:p>
            <a:pPr algn="l">
              <a:spcAft>
                <a:spcPts val="600"/>
              </a:spcAft>
            </a:pPr>
            <a:r>
              <a:rPr sz="1200" b="0">
                <a:solidFill>
                  <a:srgbClr val="222222"/>
                </a:solidFill>
              </a:rPr>
              <a:t>• Decide which programmes exist (R03)</a:t>
            </a:r>
          </a:p>
          <a:p>
            <a:pPr algn="l">
              <a:spcAft>
                <a:spcPts val="600"/>
              </a:spcAft>
            </a:pPr>
            <a:r>
              <a:rPr sz="1200" b="0">
                <a:solidFill>
                  <a:srgbClr val="222222"/>
                </a:solidFill>
              </a:rPr>
              <a:t>• One fees-and-credits table (R08)</a:t>
            </a:r>
          </a:p>
          <a:p>
            <a:pPr algn="l">
              <a:spcAft>
                <a:spcPts val="600"/>
              </a:spcAft>
            </a:pPr>
            <a:r>
              <a:rPr sz="1200" b="0">
                <a:solidFill>
                  <a:srgbClr val="222222"/>
                </a:solidFill>
              </a:rPr>
              <a:t>• Fix NAD and fertility price conflicts (R10)</a:t>
            </a:r>
          </a:p>
          <a:p>
            <a:pPr algn="l">
              <a:spcAft>
                <a:spcPts val="600"/>
              </a:spcAft>
            </a:pPr>
            <a:r>
              <a:rPr sz="1200" b="0">
                <a:solidFill>
                  <a:srgbClr val="222222"/>
                </a:solidFill>
              </a:rPr>
              <a:t>• Publish typical ranges from real Pabau data, after testing the wording (R11)</a:t>
            </a:r>
          </a:p>
          <a:p>
            <a:pPr algn="l">
              <a:spcAft>
                <a:spcPts val="600"/>
              </a:spcAft>
            </a:pPr>
            <a:r>
              <a:rPr sz="1200" b="0">
                <a:solidFill>
                  <a:srgbClr val="222222"/>
                </a:solidFill>
              </a:rPr>
              <a:t>• Simulated buyers asked for a written range, but the question was primed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Website: strong foundations, avoidable defects</a:t>
            </a:r>
          </a:p>
        </p:txBody>
      </p:sp>
      <p:sp>
        <p:nvSpPr>
          <p:cNvPr id="4" name="TextBox 3"/>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website-audit.md; evidence/*.csv; re-check 15 Oct 2026   |   The HVN strategy review · 15 Oct 2026 · 6</a:t>
            </a:r>
          </a:p>
        </p:txBody>
      </p:sp>
      <p:pic>
        <p:nvPicPr>
          <p:cNvPr id="5" name="Picture 4" descr="website-audit.png"/>
          <p:cNvPicPr>
            <a:picLocks noChangeAspect="1"/>
          </p:cNvPicPr>
          <p:nvPr/>
        </p:nvPicPr>
        <p:blipFill>
          <a:blip r:embed="rId3"/>
          <a:stretch>
            <a:fillRect/>
          </a:stretch>
        </p:blipFill>
        <p:spPr>
          <a:xfrm>
            <a:off x="365760" y="1188720"/>
            <a:ext cx="7863840" cy="3365527"/>
          </a:xfrm>
          <a:prstGeom prst="rect">
            <a:avLst/>
          </a:prstGeom>
        </p:spPr>
      </p:pic>
      <p:sp>
        <p:nvSpPr>
          <p:cNvPr id="6" name="Rectangle 5"/>
          <p:cNvSpPr/>
          <p:nvPr/>
        </p:nvSpPr>
        <p:spPr>
          <a:xfrm>
            <a:off x="8412480" y="1280160"/>
            <a:ext cx="3383280" cy="48463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280160"/>
            <a:ext cx="82296" cy="48463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1371600"/>
            <a:ext cx="3108960" cy="457200"/>
          </a:xfrm>
          <a:prstGeom prst="rect">
            <a:avLst/>
          </a:prstGeom>
          <a:noFill/>
        </p:spPr>
        <p:txBody>
          <a:bodyPr wrap="square">
            <a:spAutoFit/>
          </a:bodyPr>
          <a:lstStyle/>
          <a:p>
            <a:pPr algn="l">
              <a:spcAft>
                <a:spcPts val="600"/>
              </a:spcAft>
            </a:pPr>
            <a:r>
              <a:rPr sz="1500" b="1">
                <a:solidFill>
                  <a:srgbClr val="1F3A5F"/>
                </a:solidFill>
              </a:rPr>
              <a:t>Also verified</a:t>
            </a:r>
          </a:p>
        </p:txBody>
      </p:sp>
      <p:sp>
        <p:nvSpPr>
          <p:cNvPr id="9" name="TextBox 8"/>
          <p:cNvSpPr txBox="1"/>
          <p:nvPr/>
        </p:nvSpPr>
        <p:spPr>
          <a:xfrm>
            <a:off x="8595360" y="1828800"/>
            <a:ext cx="3108960" cy="4206240"/>
          </a:xfrm>
          <a:prstGeom prst="rect">
            <a:avLst/>
          </a:prstGeom>
          <a:noFill/>
        </p:spPr>
        <p:txBody>
          <a:bodyPr wrap="square">
            <a:spAutoFit/>
          </a:bodyPr>
          <a:lstStyle/>
          <a:p>
            <a:pPr algn="l">
              <a:spcAft>
                <a:spcPts val="600"/>
              </a:spcAft>
            </a:pPr>
            <a:r>
              <a:rPr sz="1200" b="0">
                <a:solidFill>
                  <a:srgbClr val="222222"/>
                </a:solidFill>
              </a:rPr>
              <a:t>• H1 'HOW THE HVN CAN HELP'; Contact/Booking titles say 'Skin &amp; Hair'</a:t>
            </a:r>
          </a:p>
          <a:p>
            <a:pPr algn="l">
              <a:spcAft>
                <a:spcPts val="600"/>
              </a:spcAft>
            </a:pPr>
            <a:r>
              <a:rPr sz="1200" b="0">
                <a:solidFill>
                  <a:srgbClr val="222222"/>
                </a:solidFill>
              </a:rPr>
              <a:t>• Two phone numbers</a:t>
            </a:r>
          </a:p>
          <a:p>
            <a:pPr algn="l">
              <a:spcAft>
                <a:spcPts val="600"/>
              </a:spcAft>
            </a:pPr>
            <a:r>
              <a:rPr sz="1200" b="0">
                <a:solidFill>
                  <a:srgbClr val="222222"/>
                </a:solidFill>
              </a:rPr>
              <a:t>• No clinic/local structured data</a:t>
            </a:r>
          </a:p>
          <a:p>
            <a:pPr algn="l">
              <a:spcAft>
                <a:spcPts val="600"/>
              </a:spcAft>
            </a:pPr>
            <a:r>
              <a:rPr sz="1200" b="0">
                <a:solidFill>
                  <a:srgbClr val="222222"/>
                </a:solidFill>
              </a:rPr>
              <a:t>• Median page: 713 KB HTML, 55 images</a:t>
            </a:r>
          </a:p>
          <a:p>
            <a:pPr algn="l">
              <a:spcAft>
                <a:spcPts val="600"/>
              </a:spcAft>
            </a:pPr>
            <a:r>
              <a:rPr sz="1200" b="0">
                <a:solidFill>
                  <a:srgbClr val="222222"/>
                </a:solidFill>
              </a:rPr>
              <a:t>• Mobile and booking flow untested (blocked)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Three things to fix this month</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All verified live on 15 October 2026; all low effort</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Live re-check; website-audit.md W1–W3   |   The HVN strategy review · 15 Oct 2026 · 7</a:t>
            </a:r>
          </a:p>
        </p:txBody>
      </p:sp>
      <p:sp>
        <p:nvSpPr>
          <p:cNvPr id="6" name="Rectangle 5"/>
          <p:cNvSpPr/>
          <p:nvPr/>
        </p:nvSpPr>
        <p:spPr>
          <a:xfrm>
            <a:off x="457200" y="1737360"/>
            <a:ext cx="3657600" cy="448056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737360"/>
            <a:ext cx="82296" cy="448056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3383280" cy="457200"/>
          </a:xfrm>
          <a:prstGeom prst="rect">
            <a:avLst/>
          </a:prstGeom>
          <a:noFill/>
        </p:spPr>
        <p:txBody>
          <a:bodyPr wrap="square">
            <a:spAutoFit/>
          </a:bodyPr>
          <a:lstStyle/>
          <a:p>
            <a:pPr algn="l">
              <a:spcAft>
                <a:spcPts val="600"/>
              </a:spcAft>
            </a:pPr>
            <a:r>
              <a:rPr sz="1500" b="1">
                <a:solidFill>
                  <a:srgbClr val="C8553D"/>
                </a:solidFill>
              </a:rPr>
              <a:t>1 · Women's-health pages</a:t>
            </a:r>
          </a:p>
        </p:txBody>
      </p:sp>
      <p:sp>
        <p:nvSpPr>
          <p:cNvPr id="9" name="TextBox 8"/>
          <p:cNvSpPr txBox="1"/>
          <p:nvPr/>
        </p:nvSpPr>
        <p:spPr>
          <a:xfrm>
            <a:off x="640080" y="2286000"/>
            <a:ext cx="3383280" cy="3840480"/>
          </a:xfrm>
          <a:prstGeom prst="rect">
            <a:avLst/>
          </a:prstGeom>
          <a:noFill/>
        </p:spPr>
        <p:txBody>
          <a:bodyPr wrap="square">
            <a:spAutoFit/>
          </a:bodyPr>
          <a:lstStyle/>
          <a:p>
            <a:pPr algn="l">
              <a:spcAft>
                <a:spcPts val="600"/>
              </a:spcAft>
            </a:pPr>
            <a:r>
              <a:rPr sz="1300" b="0">
                <a:solidFill>
                  <a:srgbClr val="222222"/>
                </a:solidFill>
              </a:rPr>
              <a:t>• /menopause/, /pcos/, /premenstrual-dysphoric-disorder/</a:t>
            </a:r>
          </a:p>
          <a:p>
            <a:pPr algn="l">
              <a:spcAft>
                <a:spcPts val="600"/>
              </a:spcAft>
            </a:pPr>
            <a:r>
              <a:rPr sz="1300" b="0">
                <a:solidFill>
                  <a:srgbClr val="222222"/>
                </a:solidFill>
              </a:rPr>
              <a:t>• Block reads: 'Explore our specialised solutions for rosacea, acne, and acne scarring'</a:t>
            </a:r>
          </a:p>
          <a:p>
            <a:pPr algn="l">
              <a:spcAft>
                <a:spcPts val="600"/>
              </a:spcAft>
            </a:pPr>
            <a:r>
              <a:rPr sz="1300" b="0">
                <a:solidFill>
                  <a:srgbClr val="222222"/>
                </a:solidFill>
              </a:rPr>
              <a:t>• Replace with the doctor + acupuncture + tests pathway (R01)</a:t>
            </a:r>
          </a:p>
        </p:txBody>
      </p:sp>
      <p:sp>
        <p:nvSpPr>
          <p:cNvPr id="10" name="Rectangle 9"/>
          <p:cNvSpPr/>
          <p:nvPr/>
        </p:nvSpPr>
        <p:spPr>
          <a:xfrm>
            <a:off x="4297680" y="1737360"/>
            <a:ext cx="3657600" cy="448056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737360"/>
            <a:ext cx="82296" cy="448056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28800"/>
            <a:ext cx="3383280" cy="457200"/>
          </a:xfrm>
          <a:prstGeom prst="rect">
            <a:avLst/>
          </a:prstGeom>
          <a:noFill/>
        </p:spPr>
        <p:txBody>
          <a:bodyPr wrap="square">
            <a:spAutoFit/>
          </a:bodyPr>
          <a:lstStyle/>
          <a:p>
            <a:pPr algn="l">
              <a:spcAft>
                <a:spcPts val="600"/>
              </a:spcAft>
            </a:pPr>
            <a:r>
              <a:rPr sz="1500" b="1">
                <a:solidFill>
                  <a:srgbClr val="C8553D"/>
                </a:solidFill>
              </a:rPr>
              <a:t>2 · Broken navigation</a:t>
            </a:r>
          </a:p>
        </p:txBody>
      </p:sp>
      <p:sp>
        <p:nvSpPr>
          <p:cNvPr id="13" name="TextBox 12"/>
          <p:cNvSpPr txBox="1"/>
          <p:nvPr/>
        </p:nvSpPr>
        <p:spPr>
          <a:xfrm>
            <a:off x="4480560" y="2286000"/>
            <a:ext cx="3383280" cy="3840480"/>
          </a:xfrm>
          <a:prstGeom prst="rect">
            <a:avLst/>
          </a:prstGeom>
          <a:noFill/>
        </p:spPr>
        <p:txBody>
          <a:bodyPr wrap="square">
            <a:spAutoFit/>
          </a:bodyPr>
          <a:lstStyle/>
          <a:p>
            <a:pPr algn="l">
              <a:spcAft>
                <a:spcPts val="600"/>
              </a:spcAft>
            </a:pPr>
            <a:r>
              <a:rPr sz="1300" b="0">
                <a:solidFill>
                  <a:srgbClr val="222222"/>
                </a:solidFill>
              </a:rPr>
              <a:t>• 'Clinical Treatments' and 'Holistic Rituals' menu links return 404 on all 212 pages</a:t>
            </a:r>
          </a:p>
          <a:p>
            <a:pPr algn="l">
              <a:spcAft>
                <a:spcPts val="600"/>
              </a:spcAft>
            </a:pPr>
            <a:r>
              <a:rPr sz="1300" b="0">
                <a:solidFill>
                  <a:srgbClr val="222222"/>
                </a:solidFill>
              </a:rPr>
              <a:t>• 19 broken internal links; a sitemap URL redirects into a 404</a:t>
            </a:r>
          </a:p>
          <a:p>
            <a:pPr algn="l">
              <a:spcAft>
                <a:spcPts val="600"/>
              </a:spcAft>
            </a:pPr>
            <a:r>
              <a:rPr sz="1300" b="0">
                <a:solidFill>
                  <a:srgbClr val="222222"/>
                </a:solidFill>
              </a:rPr>
              <a:t>• Fix and add 301s (R02)</a:t>
            </a:r>
          </a:p>
        </p:txBody>
      </p:sp>
      <p:sp>
        <p:nvSpPr>
          <p:cNvPr id="14" name="Rectangle 13"/>
          <p:cNvSpPr/>
          <p:nvPr/>
        </p:nvSpPr>
        <p:spPr>
          <a:xfrm>
            <a:off x="8138160" y="1737360"/>
            <a:ext cx="3657600" cy="448056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737360"/>
            <a:ext cx="82296" cy="448056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828800"/>
            <a:ext cx="3383280" cy="457200"/>
          </a:xfrm>
          <a:prstGeom prst="rect">
            <a:avLst/>
          </a:prstGeom>
          <a:noFill/>
        </p:spPr>
        <p:txBody>
          <a:bodyPr wrap="square">
            <a:spAutoFit/>
          </a:bodyPr>
          <a:lstStyle/>
          <a:p>
            <a:pPr algn="l">
              <a:spcAft>
                <a:spcPts val="600"/>
              </a:spcAft>
            </a:pPr>
            <a:r>
              <a:rPr sz="1500" b="1">
                <a:solidFill>
                  <a:srgbClr val="C8553D"/>
                </a:solidFill>
              </a:rPr>
              <a:t>3 · Dead-end plan step</a:t>
            </a:r>
          </a:p>
        </p:txBody>
      </p:sp>
      <p:sp>
        <p:nvSpPr>
          <p:cNvPr id="17" name="TextBox 16"/>
          <p:cNvSpPr txBox="1"/>
          <p:nvPr/>
        </p:nvSpPr>
        <p:spPr>
          <a:xfrm>
            <a:off x="8321040" y="2286000"/>
            <a:ext cx="3383280" cy="3840480"/>
          </a:xfrm>
          <a:prstGeom prst="rect">
            <a:avLst/>
          </a:prstGeom>
          <a:noFill/>
        </p:spPr>
        <p:txBody>
          <a:bodyPr wrap="square">
            <a:spAutoFit/>
          </a:bodyPr>
          <a:lstStyle/>
          <a:p>
            <a:pPr algn="l">
              <a:spcAft>
                <a:spcPts val="600"/>
              </a:spcAft>
            </a:pPr>
            <a:r>
              <a:rPr sz="1300" b="0">
                <a:solidFill>
                  <a:srgbClr val="222222"/>
                </a:solidFill>
              </a:rPr>
              <a:t>• Programme pages return 404</a:t>
            </a:r>
          </a:p>
          <a:p>
            <a:pPr algn="l">
              <a:spcAft>
                <a:spcPts val="600"/>
              </a:spcAft>
            </a:pPr>
            <a:r>
              <a:rPr sz="1300" b="0">
                <a:solidFill>
                  <a:srgbClr val="222222"/>
                </a:solidFill>
              </a:rPr>
              <a:t>• 'Functional medicine' lands on an unfinished 'Updated' page</a:t>
            </a:r>
          </a:p>
          <a:p>
            <a:pPr algn="l">
              <a:spcAft>
                <a:spcPts val="600"/>
              </a:spcAft>
            </a:pPr>
            <a:r>
              <a:rPr sz="1300" b="0">
                <a:solidFill>
                  <a:srgbClr val="222222"/>
                </a:solidFill>
              </a:rPr>
              <a:t>• Decide, publish or redirect (R03)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Trust: proof exists but cannot be verified from the page</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Buyers can't see who treats them, what the CQC covers, or the review rating</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Crawl; competitor-benchmark.md B5; report-audit.md U1   |   The HVN strategy review · 15 Oct 2026 · 8</a:t>
            </a:r>
          </a:p>
        </p:txBody>
      </p:sp>
      <p:graphicFrame>
        <p:nvGraphicFramePr>
          <p:cNvPr id="6" name="Table 5"/>
          <p:cNvGraphicFramePr>
            <a:graphicFrameLocks noGrp="1"/>
          </p:cNvGraphicFramePr>
          <p:nvPr/>
        </p:nvGraphicFramePr>
        <p:xfrm>
          <a:off x="457200" y="1737360"/>
          <a:ext cx="7315200" cy="3520440"/>
        </p:xfrm>
        <a:graphic>
          <a:graphicData uri="http://schemas.openxmlformats.org/drawingml/2006/table">
            <a:tbl>
              <a:tblPr firstRow="1" bandRow="1">
                <a:tableStyleId>{5C22544A-7EE6-4342-B048-85BDC9FD1C3A}</a:tableStyleId>
              </a:tblPr>
              <a:tblGrid>
                <a:gridCol w="1737360"/>
                <a:gridCol w="3017520"/>
                <a:gridCol w="2560320"/>
              </a:tblGrid>
              <a:tr h="502920">
                <a:tc>
                  <a:txBody>
                    <a:bodyPr/>
                    <a:lstStyle/>
                    <a:p>
                      <a:r>
                        <a:rPr sz="1200" b="1">
                          <a:solidFill>
                            <a:srgbClr val="FFFFFF"/>
                          </a:solidFill>
                        </a:rPr>
                        <a:t>Signal</a:t>
                      </a:r>
                    </a:p>
                  </a:txBody>
                  <a:tcPr marL="54864" marR="54864" marT="27432" marB="27432">
                    <a:solidFill>
                      <a:srgbClr val="1F3A5F"/>
                    </a:solidFill>
                  </a:tcPr>
                </a:tc>
                <a:tc>
                  <a:txBody>
                    <a:bodyPr/>
                    <a:lstStyle/>
                    <a:p>
                      <a:r>
                        <a:rPr sz="1200" b="1">
                          <a:solidFill>
                            <a:srgbClr val="FFFFFF"/>
                          </a:solidFill>
                        </a:rPr>
                        <a:t>Today [V]</a:t>
                      </a:r>
                    </a:p>
                  </a:txBody>
                  <a:tcPr marL="54864" marR="54864" marT="27432" marB="27432">
                    <a:solidFill>
                      <a:srgbClr val="1F3A5F"/>
                    </a:solidFill>
                  </a:tcPr>
                </a:tc>
                <a:tc>
                  <a:txBody>
                    <a:bodyPr/>
                    <a:lstStyle/>
                    <a:p>
                      <a:r>
                        <a:rPr sz="1200" b="1">
                          <a:solidFill>
                            <a:srgbClr val="FFFFFF"/>
                          </a:solidFill>
                        </a:rPr>
                        <a:t>Fix</a:t>
                      </a:r>
                    </a:p>
                  </a:txBody>
                  <a:tcPr marL="54864" marR="54864" marT="27432" marB="27432">
                    <a:solidFill>
                      <a:srgbClr val="1F3A5F"/>
                    </a:solidFill>
                  </a:tcPr>
                </a:tc>
              </a:tr>
              <a:tr h="502920">
                <a:tc>
                  <a:txBody>
                    <a:bodyPr/>
                    <a:lstStyle/>
                    <a:p>
                      <a:r>
                        <a:rPr sz="1200" b="0">
                          <a:solidFill>
                            <a:srgbClr val="222222"/>
                          </a:solidFill>
                        </a:rPr>
                        <a:t>Who will treat me</a:t>
                      </a:r>
                    </a:p>
                  </a:txBody>
                  <a:tcPr marL="54864" marR="54864" marT="27432" marB="27432">
                    <a:solidFill>
                      <a:srgbClr val="FFFFFF"/>
                    </a:solidFill>
                  </a:tcPr>
                </a:tc>
                <a:tc>
                  <a:txBody>
                    <a:bodyPr/>
                    <a:lstStyle/>
                    <a:p>
                      <a:r>
                        <a:rPr sz="1200" b="0">
                          <a:solidFill>
                            <a:srgbClr val="222222"/>
                          </a:solidFill>
                        </a:rPr>
                        <a:t>Same 4 names on every page</a:t>
                      </a:r>
                    </a:p>
                  </a:txBody>
                  <a:tcPr marL="54864" marR="54864" marT="27432" marB="27432">
                    <a:solidFill>
                      <a:srgbClr val="FFFFFF"/>
                    </a:solidFill>
                  </a:tcPr>
                </a:tc>
                <a:tc>
                  <a:txBody>
                    <a:bodyPr/>
                    <a:lstStyle/>
                    <a:p>
                      <a:r>
                        <a:rPr sz="1200" b="0">
                          <a:solidFill>
                            <a:srgbClr val="222222"/>
                          </a:solidFill>
                        </a:rPr>
                        <a:t>Clinician per treatment (R13)</a:t>
                      </a:r>
                    </a:p>
                  </a:txBody>
                  <a:tcPr marL="54864" marR="54864" marT="27432" marB="27432">
                    <a:solidFill>
                      <a:srgbClr val="FFFFFF"/>
                    </a:solidFill>
                  </a:tcPr>
                </a:tc>
              </a:tr>
              <a:tr h="502920">
                <a:tc>
                  <a:txBody>
                    <a:bodyPr/>
                    <a:lstStyle/>
                    <a:p>
                      <a:r>
                        <a:rPr sz="1200" b="0">
                          <a:solidFill>
                            <a:srgbClr val="222222"/>
                          </a:solidFill>
                        </a:rPr>
                        <a:t>CQC</a:t>
                      </a:r>
                    </a:p>
                  </a:txBody>
                  <a:tcPr marL="54864" marR="54864" marT="27432" marB="27432">
                    <a:solidFill>
                      <a:srgbClr val="EDF2F4"/>
                    </a:solidFill>
                  </a:tcPr>
                </a:tc>
                <a:tc>
                  <a:txBody>
                    <a:bodyPr/>
                    <a:lstStyle/>
                    <a:p>
                      <a:r>
                        <a:rPr sz="1200" b="0">
                          <a:solidFill>
                            <a:srgbClr val="222222"/>
                          </a:solidFill>
                        </a:rPr>
                        <a:t>Badge on 212/212, linked on 0</a:t>
                      </a:r>
                    </a:p>
                  </a:txBody>
                  <a:tcPr marL="54864" marR="54864" marT="27432" marB="27432">
                    <a:solidFill>
                      <a:srgbClr val="EDF2F4"/>
                    </a:solidFill>
                  </a:tcPr>
                </a:tc>
                <a:tc>
                  <a:txBody>
                    <a:bodyPr/>
                    <a:lstStyle/>
                    <a:p>
                      <a:r>
                        <a:rPr sz="1200" b="0">
                          <a:solidFill>
                            <a:srgbClr val="222222"/>
                          </a:solidFill>
                        </a:rPr>
                        <a:t>Verify; link; accurate line (R05)</a:t>
                      </a:r>
                    </a:p>
                  </a:txBody>
                  <a:tcPr marL="54864" marR="54864" marT="27432" marB="27432">
                    <a:solidFill>
                      <a:srgbClr val="EDF2F4"/>
                    </a:solidFill>
                  </a:tcPr>
                </a:tc>
              </a:tr>
              <a:tr h="502920">
                <a:tc>
                  <a:txBody>
                    <a:bodyPr/>
                    <a:lstStyle/>
                    <a:p>
                      <a:r>
                        <a:rPr sz="1200" b="0">
                          <a:solidFill>
                            <a:srgbClr val="222222"/>
                          </a:solidFill>
                        </a:rPr>
                        <a:t>CQC status</a:t>
                      </a:r>
                    </a:p>
                  </a:txBody>
                  <a:tcPr marL="54864" marR="54864" marT="27432" marB="27432">
                    <a:solidFill>
                      <a:srgbClr val="FFFFFF"/>
                    </a:solidFill>
                  </a:tcPr>
                </a:tc>
                <a:tc>
                  <a:txBody>
                    <a:bodyPr/>
                    <a:lstStyle/>
                    <a:p>
                      <a:r>
                        <a:rPr sz="1200" b="0">
                          <a:solidFill>
                            <a:srgbClr val="222222"/>
                          </a:solidFill>
                        </a:rPr>
                        <a:t>UNKNOWN (not re-verifiable)</a:t>
                      </a:r>
                    </a:p>
                  </a:txBody>
                  <a:tcPr marL="54864" marR="54864" marT="27432" marB="27432">
                    <a:solidFill>
                      <a:srgbClr val="FFFFFF"/>
                    </a:solidFill>
                  </a:tcPr>
                </a:tc>
                <a:tc>
                  <a:txBody>
                    <a:bodyPr/>
                    <a:lstStyle/>
                    <a:p>
                      <a:r>
                        <a:rPr sz="1200" b="0">
                          <a:solidFill>
                            <a:srgbClr val="222222"/>
                          </a:solidFill>
                        </a:rPr>
                        <a:t>Registered manager checks at source</a:t>
                      </a:r>
                    </a:p>
                  </a:txBody>
                  <a:tcPr marL="54864" marR="54864" marT="27432" marB="27432">
                    <a:solidFill>
                      <a:srgbClr val="FFFFFF"/>
                    </a:solidFill>
                  </a:tcPr>
                </a:tc>
              </a:tr>
              <a:tr h="502920">
                <a:tc>
                  <a:txBody>
                    <a:bodyPr/>
                    <a:lstStyle/>
                    <a:p>
                      <a:r>
                        <a:rPr sz="1200" b="0">
                          <a:solidFill>
                            <a:srgbClr val="222222"/>
                          </a:solidFill>
                        </a:rPr>
                        <a:t>Reviews</a:t>
                      </a:r>
                    </a:p>
                  </a:txBody>
                  <a:tcPr marL="54864" marR="54864" marT="27432" marB="27432">
                    <a:solidFill>
                      <a:srgbClr val="EDF2F4"/>
                    </a:solidFill>
                  </a:tcPr>
                </a:tc>
                <a:tc>
                  <a:txBody>
                    <a:bodyPr/>
                    <a:lstStyle/>
                    <a:p>
                      <a:r>
                        <a:rPr sz="1200" b="0">
                          <a:solidFill>
                            <a:srgbClr val="222222"/>
                          </a:solidFill>
                        </a:rPr>
                        <a:t>Widget on 157 pages; rating not in HTML</a:t>
                      </a:r>
                    </a:p>
                  </a:txBody>
                  <a:tcPr marL="54864" marR="54864" marT="27432" marB="27432">
                    <a:solidFill>
                      <a:srgbClr val="EDF2F4"/>
                    </a:solidFill>
                  </a:tcPr>
                </a:tc>
                <a:tc>
                  <a:txBody>
                    <a:bodyPr/>
                    <a:lstStyle/>
                    <a:p>
                      <a:r>
                        <a:rPr sz="1200" b="0">
                          <a:solidFill>
                            <a:srgbClr val="222222"/>
                          </a:solidFill>
                        </a:rPr>
                        <a:t>Check rating; show it (R21)</a:t>
                      </a:r>
                    </a:p>
                  </a:txBody>
                  <a:tcPr marL="54864" marR="54864" marT="27432" marB="27432">
                    <a:solidFill>
                      <a:srgbClr val="EDF2F4"/>
                    </a:solidFill>
                  </a:tcPr>
                </a:tc>
              </a:tr>
              <a:tr h="502920">
                <a:tc>
                  <a:txBody>
                    <a:bodyPr/>
                    <a:lstStyle/>
                    <a:p>
                      <a:r>
                        <a:rPr sz="1200" b="0">
                          <a:solidFill>
                            <a:srgbClr val="222222"/>
                          </a:solidFill>
                        </a:rPr>
                        <a:t>IV safeguard</a:t>
                      </a:r>
                    </a:p>
                  </a:txBody>
                  <a:tcPr marL="54864" marR="54864" marT="27432" marB="27432">
                    <a:solidFill>
                      <a:srgbClr val="FFFFFF"/>
                    </a:solidFill>
                  </a:tcPr>
                </a:tc>
                <a:tc>
                  <a:txBody>
                    <a:bodyPr/>
                    <a:lstStyle/>
                    <a:p>
                      <a:r>
                        <a:rPr sz="1200" b="0">
                          <a:solidFill>
                            <a:srgbClr val="222222"/>
                          </a:solidFill>
                        </a:rPr>
                        <a:t>10-minute doctor check, unexplained</a:t>
                      </a:r>
                    </a:p>
                  </a:txBody>
                  <a:tcPr marL="54864" marR="54864" marT="27432" marB="27432">
                    <a:solidFill>
                      <a:srgbClr val="FFFFFF"/>
                    </a:solidFill>
                  </a:tcPr>
                </a:tc>
                <a:tc>
                  <a:txBody>
                    <a:bodyPr/>
                    <a:lstStyle/>
                    <a:p>
                      <a:r>
                        <a:rPr sz="1200" b="0">
                          <a:solidFill>
                            <a:srgbClr val="222222"/>
                          </a:solidFill>
                        </a:rPr>
                        <a:t>'Before your IV' explainer (R14)</a:t>
                      </a:r>
                    </a:p>
                  </a:txBody>
                  <a:tcPr marL="54864" marR="54864" marT="27432" marB="27432">
                    <a:solidFill>
                      <a:srgbClr val="FFFFFF"/>
                    </a:solidFill>
                  </a:tcPr>
                </a:tc>
              </a:tr>
              <a:tr h="502920">
                <a:tc>
                  <a:txBody>
                    <a:bodyPr/>
                    <a:lstStyle/>
                    <a:p>
                      <a:r>
                        <a:rPr sz="1200" b="0">
                          <a:solidFill>
                            <a:srgbClr val="222222"/>
                          </a:solidFill>
                        </a:rPr>
                        <a:t>Claims</a:t>
                      </a:r>
                    </a:p>
                  </a:txBody>
                  <a:tcPr marL="54864" marR="54864" marT="27432" marB="27432">
                    <a:solidFill>
                      <a:srgbClr val="EDF2F4"/>
                    </a:solidFill>
                  </a:tcPr>
                </a:tc>
                <a:tc>
                  <a:txBody>
                    <a:bodyPr/>
                    <a:lstStyle/>
                    <a:p>
                      <a:r>
                        <a:rPr sz="1200" b="0">
                          <a:solidFill>
                            <a:srgbClr val="222222"/>
                          </a:solidFill>
                        </a:rPr>
                        <a:t>Immune/boost on 19/20 IV/IM pages</a:t>
                      </a:r>
                    </a:p>
                  </a:txBody>
                  <a:tcPr marL="54864" marR="54864" marT="27432" marB="27432">
                    <a:solidFill>
                      <a:srgbClr val="EDF2F4"/>
                    </a:solidFill>
                  </a:tcPr>
                </a:tc>
                <a:tc>
                  <a:txBody>
                    <a:bodyPr/>
                    <a:lstStyle/>
                    <a:p>
                      <a:r>
                        <a:rPr sz="1200" b="0">
                          <a:solidFill>
                            <a:srgbClr val="222222"/>
                          </a:solidFill>
                        </a:rPr>
                        <a:t>CAP-code review (R04)</a:t>
                      </a:r>
                    </a:p>
                  </a:txBody>
                  <a:tcPr marL="54864" marR="54864" marT="27432" marB="27432">
                    <a:solidFill>
                      <a:srgbClr val="EDF2F4"/>
                    </a:solidFill>
                  </a:tcPr>
                </a:tc>
              </a:tr>
            </a:tbl>
          </a:graphicData>
        </a:graphic>
      </p:graphicFrame>
      <p:sp>
        <p:nvSpPr>
          <p:cNvPr id="7" name="Rectangle 6"/>
          <p:cNvSpPr/>
          <p:nvPr/>
        </p:nvSpPr>
        <p:spPr>
          <a:xfrm>
            <a:off x="8046720" y="1737360"/>
            <a:ext cx="3749039"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46720" y="1737360"/>
            <a:ext cx="82296" cy="438912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474719" cy="457200"/>
          </a:xfrm>
          <a:prstGeom prst="rect">
            <a:avLst/>
          </a:prstGeom>
          <a:noFill/>
        </p:spPr>
        <p:txBody>
          <a:bodyPr wrap="square">
            <a:spAutoFit/>
          </a:bodyPr>
          <a:lstStyle/>
          <a:p>
            <a:pPr algn="l">
              <a:spcAft>
                <a:spcPts val="600"/>
              </a:spcAft>
            </a:pPr>
            <a:r>
              <a:rPr sz="1500" b="1">
                <a:solidFill>
                  <a:srgbClr val="5C677D"/>
                </a:solidFill>
              </a:rPr>
              <a:t>Simulated signal [S]</a:t>
            </a:r>
          </a:p>
        </p:txBody>
      </p:sp>
      <p:sp>
        <p:nvSpPr>
          <p:cNvPr id="10" name="TextBox 9"/>
          <p:cNvSpPr txBox="1"/>
          <p:nvPr/>
        </p:nvSpPr>
        <p:spPr>
          <a:xfrm>
            <a:off x="8229600" y="2286000"/>
            <a:ext cx="3474719" cy="3749040"/>
          </a:xfrm>
          <a:prstGeom prst="rect">
            <a:avLst/>
          </a:prstGeom>
          <a:noFill/>
        </p:spPr>
        <p:txBody>
          <a:bodyPr wrap="square">
            <a:spAutoFit/>
          </a:bodyPr>
          <a:lstStyle/>
          <a:p>
            <a:pPr algn="l">
              <a:spcAft>
                <a:spcPts val="600"/>
              </a:spcAft>
            </a:pPr>
            <a:r>
              <a:rPr sz="1200" b="0">
                <a:solidFill>
                  <a:srgbClr val="222222"/>
                </a:solidFill>
              </a:rPr>
              <a:t>• 'Who will treat me?' raised in all five full runs</a:t>
            </a:r>
          </a:p>
          <a:p>
            <a:pPr algn="l">
              <a:spcAft>
                <a:spcPts val="600"/>
              </a:spcAft>
            </a:pPr>
            <a:r>
              <a:rPr sz="1200" b="0">
                <a:solidFill>
                  <a:srgbClr val="222222"/>
                </a:solidFill>
              </a:rPr>
              <a:t>• 'Registered is not inspected': primed by the seed</a:t>
            </a:r>
          </a:p>
          <a:p>
            <a:pPr algn="l">
              <a:spcAft>
                <a:spcPts val="600"/>
              </a:spcAft>
            </a:pPr>
            <a:r>
              <a:rPr sz="1200" b="0">
                <a:solidFill>
                  <a:srgbClr val="222222"/>
                </a:solidFill>
              </a:rPr>
              <a:t>• Treat as hypotheses H04 and H05</a:t>
            </a:r>
          </a:p>
          <a:p>
            <a:pPr algn="l">
              <a:spcAft>
                <a:spcPts val="600"/>
              </a:spcAft>
            </a:pPr>
            <a:r>
              <a:rPr sz="1200" b="0">
                <a:solidFill>
                  <a:srgbClr val="222222"/>
                </a:solidFill>
              </a:rPr>
              <a:t>• A nearby aesthetics rival shows a CQC 'Good' rating (2023, via 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Customer journey: where it breaks, and where we are blind</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17 verified defects before booking; almost no data after it</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customer-journey-map.md   |   The HVN strategy review · 15 Oct 2026 · 9</a:t>
            </a:r>
          </a:p>
        </p:txBody>
      </p:sp>
      <p:pic>
        <p:nvPicPr>
          <p:cNvPr id="6" name="Picture 5" descr="journey-friction.png"/>
          <p:cNvPicPr>
            <a:picLocks noChangeAspect="1"/>
          </p:cNvPicPr>
          <p:nvPr/>
        </p:nvPicPr>
        <p:blipFill>
          <a:blip r:embed="rId3"/>
          <a:stretch>
            <a:fillRect/>
          </a:stretch>
        </p:blipFill>
        <p:spPr>
          <a:xfrm>
            <a:off x="365760" y="1645920"/>
            <a:ext cx="7863840" cy="3449143"/>
          </a:xfrm>
          <a:prstGeom prst="rect">
            <a:avLst/>
          </a:prstGeom>
        </p:spPr>
      </p:pic>
      <p:sp>
        <p:nvSpPr>
          <p:cNvPr id="7" name="Rectangle 6"/>
          <p:cNvSpPr/>
          <p:nvPr/>
        </p:nvSpPr>
        <p:spPr>
          <a:xfrm>
            <a:off x="8412480" y="1737360"/>
            <a:ext cx="3383280"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0" y="1737360"/>
            <a:ext cx="82296" cy="4389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1828800"/>
            <a:ext cx="3108960" cy="457200"/>
          </a:xfrm>
          <a:prstGeom prst="rect">
            <a:avLst/>
          </a:prstGeom>
          <a:noFill/>
        </p:spPr>
        <p:txBody>
          <a:bodyPr wrap="square">
            <a:spAutoFit/>
          </a:bodyPr>
          <a:lstStyle/>
          <a:p>
            <a:pPr algn="l">
              <a:spcAft>
                <a:spcPts val="600"/>
              </a:spcAft>
            </a:pPr>
            <a:r>
              <a:rPr sz="1500" b="1">
                <a:solidFill>
                  <a:srgbClr val="1F3A5F"/>
                </a:solidFill>
              </a:rPr>
              <a:t>Moments that matter</a:t>
            </a:r>
          </a:p>
        </p:txBody>
      </p:sp>
      <p:sp>
        <p:nvSpPr>
          <p:cNvPr id="10" name="TextBox 9"/>
          <p:cNvSpPr txBox="1"/>
          <p:nvPr/>
        </p:nvSpPr>
        <p:spPr>
          <a:xfrm>
            <a:off x="8595360" y="2286000"/>
            <a:ext cx="3108960" cy="3749040"/>
          </a:xfrm>
          <a:prstGeom prst="rect">
            <a:avLst/>
          </a:prstGeom>
          <a:noFill/>
        </p:spPr>
        <p:txBody>
          <a:bodyPr wrap="square">
            <a:spAutoFit/>
          </a:bodyPr>
          <a:lstStyle/>
          <a:p>
            <a:pPr algn="l">
              <a:spcAft>
                <a:spcPts val="600"/>
              </a:spcAft>
            </a:pPr>
            <a:r>
              <a:rPr sz="1200" b="0">
                <a:solidFill>
                  <a:srgbClr val="222222"/>
                </a:solidFill>
              </a:rPr>
              <a:t>• Women's-health visitor lands on the wrong page</a:t>
            </a:r>
          </a:p>
          <a:p>
            <a:pPr algn="l">
              <a:spcAft>
                <a:spcPts val="600"/>
              </a:spcAft>
            </a:pPr>
            <a:r>
              <a:rPr sz="1200" b="0">
                <a:solidFill>
                  <a:srgbClr val="222222"/>
                </a:solidFill>
              </a:rPr>
              <a:t>• 'What will it cost overall?'</a:t>
            </a:r>
          </a:p>
          <a:p>
            <a:pPr algn="l">
              <a:spcAft>
                <a:spcPts val="600"/>
              </a:spcAft>
            </a:pPr>
            <a:r>
              <a:rPr sz="1200" b="0">
                <a:solidFill>
                  <a:srgbClr val="222222"/>
                </a:solidFill>
              </a:rPr>
              <a:t>• 'Who treats me; is it regulated?'</a:t>
            </a:r>
          </a:p>
          <a:p>
            <a:pPr algn="l">
              <a:spcAft>
                <a:spcPts val="600"/>
              </a:spcAft>
            </a:pPr>
            <a:r>
              <a:rPr sz="1200" b="0">
                <a:solidFill>
                  <a:srgbClr val="222222"/>
                </a:solidFill>
              </a:rPr>
              <a:t>• Broken menu links</a:t>
            </a:r>
          </a:p>
          <a:p>
            <a:pPr algn="l">
              <a:spcAft>
                <a:spcPts val="600"/>
              </a:spcAft>
            </a:pPr>
            <a:r>
              <a:rPr sz="1200" b="0">
                <a:solidFill>
                  <a:srgbClr val="222222"/>
                </a:solidFill>
              </a:rPr>
              <a:t>• Calling from a phone</a:t>
            </a:r>
          </a:p>
          <a:p>
            <a:pPr algn="l">
              <a:spcAft>
                <a:spcPts val="600"/>
              </a:spcAft>
            </a:pPr>
            <a:r>
              <a:rPr sz="1200" b="0">
                <a:solidFill>
                  <a:srgbClr val="222222"/>
                </a:solidFill>
              </a:rPr>
              <a:t>• What a client leaves the consultation with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Segments: each has a verified blocker</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Segment existence is evidenced by The HVN's own pages; behaviour is hypothesis</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customer-journey-map.md §4; personas.md   |   The HVN strategy review · 15 Oct 2026 · 10</a:t>
            </a:r>
          </a:p>
        </p:txBody>
      </p:sp>
      <p:graphicFrame>
        <p:nvGraphicFramePr>
          <p:cNvPr id="6" name="Table 5"/>
          <p:cNvGraphicFramePr>
            <a:graphicFrameLocks noGrp="1"/>
          </p:cNvGraphicFramePr>
          <p:nvPr/>
        </p:nvGraphicFramePr>
        <p:xfrm>
          <a:off x="457200" y="1737360"/>
          <a:ext cx="11247120" cy="4023360"/>
        </p:xfrm>
        <a:graphic>
          <a:graphicData uri="http://schemas.openxmlformats.org/drawingml/2006/table">
            <a:tbl>
              <a:tblPr firstRow="1" bandRow="1">
                <a:tableStyleId>{5C22544A-7EE6-4342-B048-85BDC9FD1C3A}</a:tableStyleId>
              </a:tblPr>
              <a:tblGrid>
                <a:gridCol w="2103120"/>
                <a:gridCol w="3566160"/>
                <a:gridCol w="4206240"/>
                <a:gridCol w="1371600"/>
              </a:tblGrid>
              <a:tr h="502920">
                <a:tc>
                  <a:txBody>
                    <a:bodyPr/>
                    <a:lstStyle/>
                    <a:p>
                      <a:r>
                        <a:rPr sz="1200" b="1">
                          <a:solidFill>
                            <a:srgbClr val="FFFFFF"/>
                          </a:solidFill>
                        </a:rPr>
                        <a:t>Segment</a:t>
                      </a:r>
                    </a:p>
                  </a:txBody>
                  <a:tcPr marL="54864" marR="54864" marT="27432" marB="27432">
                    <a:solidFill>
                      <a:srgbClr val="1F3A5F"/>
                    </a:solidFill>
                  </a:tcPr>
                </a:tc>
                <a:tc>
                  <a:txBody>
                    <a:bodyPr/>
                    <a:lstStyle/>
                    <a:p>
                      <a:r>
                        <a:rPr sz="1200" b="1">
                          <a:solidFill>
                            <a:srgbClr val="FFFFFF"/>
                          </a:solidFill>
                        </a:rPr>
                        <a:t>Entry point (verified)</a:t>
                      </a:r>
                    </a:p>
                  </a:txBody>
                  <a:tcPr marL="54864" marR="54864" marT="27432" marB="27432">
                    <a:solidFill>
                      <a:srgbClr val="1F3A5F"/>
                    </a:solidFill>
                  </a:tcPr>
                </a:tc>
                <a:tc>
                  <a:txBody>
                    <a:bodyPr/>
                    <a:lstStyle/>
                    <a:p>
                      <a:r>
                        <a:rPr sz="1200" b="1">
                          <a:solidFill>
                            <a:srgbClr val="FFFFFF"/>
                          </a:solidFill>
                        </a:rPr>
                        <a:t>Biggest verified blocker</a:t>
                      </a:r>
                    </a:p>
                  </a:txBody>
                  <a:tcPr marL="54864" marR="54864" marT="27432" marB="27432">
                    <a:solidFill>
                      <a:srgbClr val="1F3A5F"/>
                    </a:solidFill>
                  </a:tcPr>
                </a:tc>
                <a:tc>
                  <a:txBody>
                    <a:bodyPr/>
                    <a:lstStyle/>
                    <a:p>
                      <a:r>
                        <a:rPr sz="1200" b="1">
                          <a:solidFill>
                            <a:srgbClr val="FFFFFF"/>
                          </a:solidFill>
                        </a:rPr>
                        <a:t>Validate</a:t>
                      </a:r>
                    </a:p>
                  </a:txBody>
                  <a:tcPr marL="54864" marR="54864" marT="27432" marB="27432">
                    <a:solidFill>
                      <a:srgbClr val="1F3A5F"/>
                    </a:solidFill>
                  </a:tcPr>
                </a:tc>
              </a:tr>
              <a:tr h="502920">
                <a:tc>
                  <a:txBody>
                    <a:bodyPr/>
                    <a:lstStyle/>
                    <a:p>
                      <a:r>
                        <a:rPr sz="1200" b="0">
                          <a:solidFill>
                            <a:srgbClr val="222222"/>
                          </a:solidFill>
                        </a:rPr>
                        <a:t>Burnt-out executive</a:t>
                      </a:r>
                    </a:p>
                  </a:txBody>
                  <a:tcPr marL="54864" marR="54864" marT="27432" marB="27432">
                    <a:solidFill>
                      <a:srgbClr val="FFFFFF"/>
                    </a:solidFill>
                  </a:tcPr>
                </a:tc>
                <a:tc>
                  <a:txBody>
                    <a:bodyPr/>
                    <a:lstStyle/>
                    <a:p>
                      <a:r>
                        <a:rPr sz="1200" b="0">
                          <a:solidFill>
                            <a:srgbClr val="222222"/>
                          </a:solidFill>
                        </a:rPr>
                        <a:t>Fatigue page; NAD; Discovery £350</a:t>
                      </a:r>
                    </a:p>
                  </a:txBody>
                  <a:tcPr marL="54864" marR="54864" marT="27432" marB="27432">
                    <a:solidFill>
                      <a:srgbClr val="FFFFFF"/>
                    </a:solidFill>
                  </a:tcPr>
                </a:tc>
                <a:tc>
                  <a:txBody>
                    <a:bodyPr/>
                    <a:lstStyle/>
                    <a:p>
                      <a:r>
                        <a:rPr sz="1200" b="0">
                          <a:solidFill>
                            <a:srgbClr val="222222"/>
                          </a:solidFill>
                        </a:rPr>
                        <a:t>Plan unpriced; NAD price conflict; no tap-to-call</a:t>
                      </a:r>
                    </a:p>
                  </a:txBody>
                  <a:tcPr marL="54864" marR="54864" marT="27432" marB="27432">
                    <a:solidFill>
                      <a:srgbClr val="FFFFFF"/>
                    </a:solidFill>
                  </a:tcPr>
                </a:tc>
                <a:tc>
                  <a:txBody>
                    <a:bodyPr/>
                    <a:lstStyle/>
                    <a:p>
                      <a:r>
                        <a:rPr sz="1200" b="0">
                          <a:solidFill>
                            <a:srgbClr val="222222"/>
                          </a:solidFill>
                        </a:rPr>
                        <a:t>H01, H10</a:t>
                      </a:r>
                    </a:p>
                  </a:txBody>
                  <a:tcPr marL="54864" marR="54864" marT="27432" marB="27432">
                    <a:solidFill>
                      <a:srgbClr val="FFFFFF"/>
                    </a:solidFill>
                  </a:tcPr>
                </a:tc>
              </a:tr>
              <a:tr h="502920">
                <a:tc>
                  <a:txBody>
                    <a:bodyPr/>
                    <a:lstStyle/>
                    <a:p>
                      <a:r>
                        <a:rPr sz="1200" b="0">
                          <a:solidFill>
                            <a:srgbClr val="222222"/>
                          </a:solidFill>
                        </a:rPr>
                        <a:t>Longevity optimiser</a:t>
                      </a:r>
                    </a:p>
                  </a:txBody>
                  <a:tcPr marL="54864" marR="54864" marT="27432" marB="27432">
                    <a:solidFill>
                      <a:srgbClr val="EDF2F4"/>
                    </a:solidFill>
                  </a:tcPr>
                </a:tc>
                <a:tc>
                  <a:txBody>
                    <a:bodyPr/>
                    <a:lstStyle/>
                    <a:p>
                      <a:r>
                        <a:rPr sz="1200" b="0">
                          <a:solidFill>
                            <a:srgbClr val="222222"/>
                          </a:solidFill>
                        </a:rPr>
                        <a:t>8R; blood profiles £450/£550; HRU £750</a:t>
                      </a:r>
                    </a:p>
                  </a:txBody>
                  <a:tcPr marL="54864" marR="54864" marT="27432" marB="27432">
                    <a:solidFill>
                      <a:srgbClr val="EDF2F4"/>
                    </a:solidFill>
                  </a:tcPr>
                </a:tc>
                <a:tc>
                  <a:txBody>
                    <a:bodyPr/>
                    <a:lstStyle/>
                    <a:p>
                      <a:r>
                        <a:rPr sz="1200" b="0">
                          <a:solidFill>
                            <a:srgbClr val="222222"/>
                          </a:solidFill>
                        </a:rPr>
                        <a:t>Only 8R priced; test list/lab not stated</a:t>
                      </a:r>
                    </a:p>
                  </a:txBody>
                  <a:tcPr marL="54864" marR="54864" marT="27432" marB="27432">
                    <a:solidFill>
                      <a:srgbClr val="EDF2F4"/>
                    </a:solidFill>
                  </a:tcPr>
                </a:tc>
                <a:tc>
                  <a:txBody>
                    <a:bodyPr/>
                    <a:lstStyle/>
                    <a:p>
                      <a:r>
                        <a:rPr sz="1200" b="0">
                          <a:solidFill>
                            <a:srgbClr val="222222"/>
                          </a:solidFill>
                        </a:rPr>
                        <a:t>H02</a:t>
                      </a:r>
                    </a:p>
                  </a:txBody>
                  <a:tcPr marL="54864" marR="54864" marT="27432" marB="27432">
                    <a:solidFill>
                      <a:srgbClr val="EDF2F4"/>
                    </a:solidFill>
                  </a:tcPr>
                </a:tc>
              </a:tr>
              <a:tr h="502920">
                <a:tc>
                  <a:txBody>
                    <a:bodyPr/>
                    <a:lstStyle/>
                    <a:p>
                      <a:r>
                        <a:rPr sz="1200" b="0">
                          <a:solidFill>
                            <a:srgbClr val="222222"/>
                          </a:solidFill>
                        </a:rPr>
                        <a:t>Aesthetics regular</a:t>
                      </a:r>
                    </a:p>
                  </a:txBody>
                  <a:tcPr marL="54864" marR="54864" marT="27432" marB="27432">
                    <a:solidFill>
                      <a:srgbClr val="FFFFFF"/>
                    </a:solidFill>
                  </a:tcPr>
                </a:tc>
                <a:tc>
                  <a:txBody>
                    <a:bodyPr/>
                    <a:lstStyle/>
                    <a:p>
                      <a:r>
                        <a:rPr sz="1200" b="0">
                          <a:solidFill>
                            <a:srgbClr val="222222"/>
                          </a:solidFill>
                        </a:rPr>
                        <a:t>£175 consultation; injectables from £260</a:t>
                      </a:r>
                    </a:p>
                  </a:txBody>
                  <a:tcPr marL="54864" marR="54864" marT="27432" marB="27432">
                    <a:solidFill>
                      <a:srgbClr val="FFFFFF"/>
                    </a:solidFill>
                  </a:tcPr>
                </a:tc>
                <a:tc>
                  <a:txBody>
                    <a:bodyPr/>
                    <a:lstStyle/>
                    <a:p>
                      <a:r>
                        <a:rPr sz="1200" b="0">
                          <a:solidFill>
                            <a:srgbClr val="222222"/>
                          </a:solidFill>
                        </a:rPr>
                        <a:t>Generic practitioner block; no credit rule</a:t>
                      </a:r>
                    </a:p>
                  </a:txBody>
                  <a:tcPr marL="54864" marR="54864" marT="27432" marB="27432">
                    <a:solidFill>
                      <a:srgbClr val="FFFFFF"/>
                    </a:solidFill>
                  </a:tcPr>
                </a:tc>
                <a:tc>
                  <a:txBody>
                    <a:bodyPr/>
                    <a:lstStyle/>
                    <a:p>
                      <a:r>
                        <a:rPr sz="1200" b="0">
                          <a:solidFill>
                            <a:srgbClr val="222222"/>
                          </a:solidFill>
                        </a:rPr>
                        <a:t>H04</a:t>
                      </a:r>
                    </a:p>
                  </a:txBody>
                  <a:tcPr marL="54864" marR="54864" marT="27432" marB="27432">
                    <a:solidFill>
                      <a:srgbClr val="FFFFFF"/>
                    </a:solidFill>
                  </a:tcPr>
                </a:tc>
              </a:tr>
              <a:tr h="502920">
                <a:tc>
                  <a:txBody>
                    <a:bodyPr/>
                    <a:lstStyle/>
                    <a:p>
                      <a:r>
                        <a:rPr sz="1200" b="0">
                          <a:solidFill>
                            <a:srgbClr val="222222"/>
                          </a:solidFill>
                        </a:rPr>
                        <a:t>Women's health</a:t>
                      </a:r>
                    </a:p>
                  </a:txBody>
                  <a:tcPr marL="54864" marR="54864" marT="27432" marB="27432">
                    <a:solidFill>
                      <a:srgbClr val="EDF2F4"/>
                    </a:solidFill>
                  </a:tcPr>
                </a:tc>
                <a:tc>
                  <a:txBody>
                    <a:bodyPr/>
                    <a:lstStyle/>
                    <a:p>
                      <a:r>
                        <a:rPr sz="1200" b="0">
                          <a:solidFill>
                            <a:srgbClr val="222222"/>
                          </a:solidFill>
                        </a:rPr>
                        <a:t>Menopause, PCOS, PMDD; acupuncture from £200</a:t>
                      </a:r>
                    </a:p>
                  </a:txBody>
                  <a:tcPr marL="54864" marR="54864" marT="27432" marB="27432">
                    <a:solidFill>
                      <a:srgbClr val="EDF2F4"/>
                    </a:solidFill>
                  </a:tcPr>
                </a:tc>
                <a:tc>
                  <a:txBody>
                    <a:bodyPr/>
                    <a:lstStyle/>
                    <a:p>
                      <a:r>
                        <a:rPr sz="1200" b="0">
                          <a:solidFill>
                            <a:srgbClr val="222222"/>
                          </a:solidFill>
                        </a:rPr>
                        <a:t>Acne treatments shown</a:t>
                      </a:r>
                    </a:p>
                  </a:txBody>
                  <a:tcPr marL="54864" marR="54864" marT="27432" marB="27432">
                    <a:solidFill>
                      <a:srgbClr val="EDF2F4"/>
                    </a:solidFill>
                  </a:tcPr>
                </a:tc>
                <a:tc>
                  <a:txBody>
                    <a:bodyPr/>
                    <a:lstStyle/>
                    <a:p>
                      <a:r>
                        <a:rPr sz="1200" b="0">
                          <a:solidFill>
                            <a:srgbClr val="222222"/>
                          </a:solidFill>
                        </a:rPr>
                        <a:t>H08</a:t>
                      </a:r>
                    </a:p>
                  </a:txBody>
                  <a:tcPr marL="54864" marR="54864" marT="27432" marB="27432">
                    <a:solidFill>
                      <a:srgbClr val="EDF2F4"/>
                    </a:solidFill>
                  </a:tcPr>
                </a:tc>
              </a:tr>
              <a:tr h="502920">
                <a:tc>
                  <a:txBody>
                    <a:bodyPr/>
                    <a:lstStyle/>
                    <a:p>
                      <a:r>
                        <a:rPr sz="1200" b="0">
                          <a:solidFill>
                            <a:srgbClr val="222222"/>
                          </a:solidFill>
                        </a:rPr>
                        <a:t>Fertility / IVF</a:t>
                      </a:r>
                    </a:p>
                  </a:txBody>
                  <a:tcPr marL="54864" marR="54864" marT="27432" marB="27432">
                    <a:solidFill>
                      <a:srgbClr val="FFFFFF"/>
                    </a:solidFill>
                  </a:tcPr>
                </a:tc>
                <a:tc>
                  <a:txBody>
                    <a:bodyPr/>
                    <a:lstStyle/>
                    <a:p>
                      <a:r>
                        <a:rPr sz="1200" b="0">
                          <a:solidFill>
                            <a:srgbClr val="222222"/>
                          </a:solidFill>
                        </a:rPr>
                        <a:t>Fertility acupuncture; panel £500</a:t>
                      </a:r>
                    </a:p>
                  </a:txBody>
                  <a:tcPr marL="54864" marR="54864" marT="27432" marB="27432">
                    <a:solidFill>
                      <a:srgbClr val="FFFFFF"/>
                    </a:solidFill>
                  </a:tcPr>
                </a:tc>
                <a:tc>
                  <a:txBody>
                    <a:bodyPr/>
                    <a:lstStyle/>
                    <a:p>
                      <a:r>
                        <a:rPr sz="1200" b="0">
                          <a:solidFill>
                            <a:srgbClr val="222222"/>
                          </a:solidFill>
                        </a:rPr>
                        <a:t>Conflicting start prices; sessions unstated</a:t>
                      </a:r>
                    </a:p>
                  </a:txBody>
                  <a:tcPr marL="54864" marR="54864" marT="27432" marB="27432">
                    <a:solidFill>
                      <a:srgbClr val="FFFFFF"/>
                    </a:solidFill>
                  </a:tcPr>
                </a:tc>
                <a:tc>
                  <a:txBody>
                    <a:bodyPr/>
                    <a:lstStyle/>
                    <a:p>
                      <a:r>
                        <a:rPr sz="1200" b="0">
                          <a:solidFill>
                            <a:srgbClr val="222222"/>
                          </a:solidFill>
                        </a:rPr>
                        <a:t>H01</a:t>
                      </a:r>
                    </a:p>
                  </a:txBody>
                  <a:tcPr marL="54864" marR="54864" marT="27432" marB="27432">
                    <a:solidFill>
                      <a:srgbClr val="FFFFFF"/>
                    </a:solidFill>
                  </a:tcPr>
                </a:tc>
              </a:tr>
              <a:tr h="502920">
                <a:tc>
                  <a:txBody>
                    <a:bodyPr/>
                    <a:lstStyle/>
                    <a:p>
                      <a:r>
                        <a:rPr sz="1200" b="0">
                          <a:solidFill>
                            <a:srgbClr val="222222"/>
                          </a:solidFill>
                        </a:rPr>
                        <a:t>International visitor</a:t>
                      </a:r>
                    </a:p>
                  </a:txBody>
                  <a:tcPr marL="54864" marR="54864" marT="27432" marB="27432">
                    <a:solidFill>
                      <a:srgbClr val="EDF2F4"/>
                    </a:solidFill>
                  </a:tcPr>
                </a:tc>
                <a:tc>
                  <a:txBody>
                    <a:bodyPr/>
                    <a:lstStyle/>
                    <a:p>
                      <a:r>
                        <a:rPr sz="1200" b="0">
                          <a:solidFill>
                            <a:srgbClr val="222222"/>
                          </a:solidFill>
                        </a:rPr>
                        <a:t>Jet Lag IV £375; Hydrobed</a:t>
                      </a:r>
                    </a:p>
                  </a:txBody>
                  <a:tcPr marL="54864" marR="54864" marT="27432" marB="27432">
                    <a:solidFill>
                      <a:srgbClr val="EDF2F4"/>
                    </a:solidFill>
                  </a:tcPr>
                </a:tc>
                <a:tc>
                  <a:txBody>
                    <a:bodyPr/>
                    <a:lstStyle/>
                    <a:p>
                      <a:r>
                        <a:rPr sz="1200" b="0">
                          <a:solidFill>
                            <a:srgbClr val="222222"/>
                          </a:solidFill>
                        </a:rPr>
                        <a:t>No tap-to-call; no visitor package</a:t>
                      </a:r>
                    </a:p>
                  </a:txBody>
                  <a:tcPr marL="54864" marR="54864" marT="27432" marB="27432">
                    <a:solidFill>
                      <a:srgbClr val="EDF2F4"/>
                    </a:solidFill>
                  </a:tcPr>
                </a:tc>
                <a:tc>
                  <a:txBody>
                    <a:bodyPr/>
                    <a:lstStyle/>
                    <a:p>
                      <a:r>
                        <a:rPr sz="1200" b="0">
                          <a:solidFill>
                            <a:srgbClr val="222222"/>
                          </a:solidFill>
                        </a:rPr>
                        <a:t>H10</a:t>
                      </a:r>
                    </a:p>
                  </a:txBody>
                  <a:tcPr marL="54864" marR="54864" marT="27432" marB="27432">
                    <a:solidFill>
                      <a:srgbClr val="EDF2F4"/>
                    </a:solidFill>
                  </a:tcPr>
                </a:tc>
              </a:tr>
              <a:tr h="502920">
                <a:tc>
                  <a:txBody>
                    <a:bodyPr/>
                    <a:lstStyle/>
                    <a:p>
                      <a:r>
                        <a:rPr sz="1200" b="0">
                          <a:solidFill>
                            <a:srgbClr val="222222"/>
                          </a:solidFill>
                        </a:rPr>
                        <a:t>Gatekeeper (PA)</a:t>
                      </a:r>
                    </a:p>
                  </a:txBody>
                  <a:tcPr marL="54864" marR="54864" marT="27432" marB="27432">
                    <a:solidFill>
                      <a:srgbClr val="FFFFFF"/>
                    </a:solidFill>
                  </a:tcPr>
                </a:tc>
                <a:tc>
                  <a:txBody>
                    <a:bodyPr/>
                    <a:lstStyle/>
                    <a:p>
                      <a:r>
                        <a:rPr sz="1200" b="0">
                          <a:solidFill>
                            <a:srgbClr val="222222"/>
                          </a:solidFill>
                        </a:rPr>
                        <a:t>Contact; terms; CQC badge</a:t>
                      </a:r>
                    </a:p>
                  </a:txBody>
                  <a:tcPr marL="54864" marR="54864" marT="27432" marB="27432">
                    <a:solidFill>
                      <a:srgbClr val="FFFFFF"/>
                    </a:solidFill>
                  </a:tcPr>
                </a:tc>
                <a:tc>
                  <a:txBody>
                    <a:bodyPr/>
                    <a:lstStyle/>
                    <a:p>
                      <a:r>
                        <a:rPr sz="1200" b="0">
                          <a:solidFill>
                            <a:srgbClr val="222222"/>
                          </a:solidFill>
                        </a:rPr>
                        <a:t>Unlinked badge; two numbers</a:t>
                      </a:r>
                    </a:p>
                  </a:txBody>
                  <a:tcPr marL="54864" marR="54864" marT="27432" marB="27432">
                    <a:solidFill>
                      <a:srgbClr val="FFFFFF"/>
                    </a:solidFill>
                  </a:tcPr>
                </a:tc>
                <a:tc>
                  <a:txBody>
                    <a:bodyPr/>
                    <a:lstStyle/>
                    <a:p>
                      <a:r>
                        <a:rPr sz="1200" b="0">
                          <a:solidFill>
                            <a:srgbClr val="222222"/>
                          </a:solidFill>
                        </a:rPr>
                        <a:t>H12</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Competitors: reported landscape, nothing verified at source</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All rival prices, memberships and ratings are UNKNOWN until checked on their own sites</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competitor-benchmark.md; evidence/competitor-benchmark-2026-10-15.csv   |   The HVN strategy review · 15 Oct 2026 · 11</a:t>
            </a:r>
          </a:p>
        </p:txBody>
      </p:sp>
      <p:pic>
        <p:nvPicPr>
          <p:cNvPr id="6" name="Picture 5" descr="competitor-commitment.png"/>
          <p:cNvPicPr>
            <a:picLocks noChangeAspect="1"/>
          </p:cNvPicPr>
          <p:nvPr/>
        </p:nvPicPr>
        <p:blipFill>
          <a:blip r:embed="rId3"/>
          <a:stretch>
            <a:fillRect/>
          </a:stretch>
        </p:blipFill>
        <p:spPr>
          <a:xfrm>
            <a:off x="365760" y="1645920"/>
            <a:ext cx="7680960" cy="3553809"/>
          </a:xfrm>
          <a:prstGeom prst="rect">
            <a:avLst/>
          </a:prstGeom>
        </p:spPr>
      </p:pic>
      <p:sp>
        <p:nvSpPr>
          <p:cNvPr id="7" name="Rectangle 6"/>
          <p:cNvSpPr/>
          <p:nvPr/>
        </p:nvSpPr>
        <p:spPr>
          <a:xfrm>
            <a:off x="8229600" y="1737360"/>
            <a:ext cx="3566160"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1737360"/>
            <a:ext cx="82296" cy="4389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828800"/>
            <a:ext cx="3291840" cy="457200"/>
          </a:xfrm>
          <a:prstGeom prst="rect">
            <a:avLst/>
          </a:prstGeom>
          <a:noFill/>
        </p:spPr>
        <p:txBody>
          <a:bodyPr wrap="square">
            <a:spAutoFit/>
          </a:bodyPr>
          <a:lstStyle/>
          <a:p>
            <a:pPr algn="l">
              <a:spcAft>
                <a:spcPts val="600"/>
              </a:spcAft>
            </a:pPr>
            <a:r>
              <a:rPr sz="1500" b="1">
                <a:solidFill>
                  <a:srgbClr val="1F3A5F"/>
                </a:solidFill>
              </a:rPr>
              <a:t>Reading [H]</a:t>
            </a:r>
          </a:p>
        </p:txBody>
      </p:sp>
      <p:sp>
        <p:nvSpPr>
          <p:cNvPr id="10" name="TextBox 9"/>
          <p:cNvSpPr txBox="1"/>
          <p:nvPr/>
        </p:nvSpPr>
        <p:spPr>
          <a:xfrm>
            <a:off x="8412480" y="2286000"/>
            <a:ext cx="3291840" cy="3749040"/>
          </a:xfrm>
          <a:prstGeom prst="rect">
            <a:avLst/>
          </a:prstGeom>
          <a:noFill/>
        </p:spPr>
        <p:txBody>
          <a:bodyPr wrap="square">
            <a:spAutoFit/>
          </a:bodyPr>
          <a:lstStyle/>
          <a:p>
            <a:pPr algn="l">
              <a:spcAft>
                <a:spcPts val="600"/>
              </a:spcAft>
            </a:pPr>
            <a:r>
              <a:rPr sz="1200" b="0">
                <a:solidFill>
                  <a:srgbClr val="222222"/>
                </a:solidFill>
              </a:rPr>
              <a:t>• Rivals reportedly sell membership and belonging</a:t>
            </a:r>
          </a:p>
          <a:p>
            <a:pPr algn="l">
              <a:spcAft>
                <a:spcPts val="600"/>
              </a:spcAft>
            </a:pPr>
            <a:r>
              <a:rPr sz="1200" b="0">
                <a:solidFill>
                  <a:srgbClr val="222222"/>
                </a:solidFill>
              </a:rPr>
              <a:t>• The HVN's verifiable edges: price transparency + one team</a:t>
            </a:r>
          </a:p>
          <a:p>
            <a:pPr algn="l">
              <a:spcAft>
                <a:spcPts val="600"/>
              </a:spcAft>
            </a:pPr>
            <a:r>
              <a:rPr sz="1200" b="0">
                <a:solidFill>
                  <a:srgbClr val="222222"/>
                </a:solidFill>
              </a:rPr>
              <a:t>• Its gaps: plan pricing, visible quality proof, single-need depth</a:t>
            </a:r>
          </a:p>
          <a:p>
            <a:pPr algn="l">
              <a:spcAft>
                <a:spcPts val="600"/>
              </a:spcAft>
            </a:pPr>
            <a:r>
              <a:rPr sz="1200" b="0">
                <a:solidFill>
                  <a:srgbClr val="222222"/>
                </a:solidFill>
              </a:rPr>
              <a:t>• New 2026 supply: HUM2N at Six Senses; Four Seasons memberships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Where The HVN can win, and where it probably loses</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Hypotheses to test, not conclusions</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competitor-benchmark.md §4–5   |   The HVN strategy review · 15 Oct 2026 · 12</a:t>
            </a:r>
          </a:p>
        </p:txBody>
      </p:sp>
      <p:graphicFrame>
        <p:nvGraphicFramePr>
          <p:cNvPr id="6" name="Table 5"/>
          <p:cNvGraphicFramePr>
            <a:graphicFrameLocks noGrp="1"/>
          </p:cNvGraphicFramePr>
          <p:nvPr/>
        </p:nvGraphicFramePr>
        <p:xfrm>
          <a:off x="457200" y="1737360"/>
          <a:ext cx="6766560" cy="3520440"/>
        </p:xfrm>
        <a:graphic>
          <a:graphicData uri="http://schemas.openxmlformats.org/drawingml/2006/table">
            <a:tbl>
              <a:tblPr firstRow="1" bandRow="1">
                <a:tableStyleId>{5C22544A-7EE6-4342-B048-85BDC9FD1C3A}</a:tableStyleId>
              </a:tblPr>
              <a:tblGrid>
                <a:gridCol w="2194560"/>
                <a:gridCol w="2286000"/>
                <a:gridCol w="2286000"/>
              </a:tblGrid>
              <a:tr h="502920">
                <a:tc>
                  <a:txBody>
                    <a:bodyPr/>
                    <a:lstStyle/>
                    <a:p>
                      <a:r>
                        <a:rPr sz="1200" b="1">
                          <a:solidFill>
                            <a:srgbClr val="FFFFFF"/>
                          </a:solidFill>
                        </a:rPr>
                        <a:t>Dimension</a:t>
                      </a:r>
                    </a:p>
                  </a:txBody>
                  <a:tcPr marL="54864" marR="54864" marT="27432" marB="27432">
                    <a:solidFill>
                      <a:srgbClr val="1F3A5F"/>
                    </a:solidFill>
                  </a:tcPr>
                </a:tc>
                <a:tc>
                  <a:txBody>
                    <a:bodyPr/>
                    <a:lstStyle/>
                    <a:p>
                      <a:r>
                        <a:rPr sz="1200" b="1">
                          <a:solidFill>
                            <a:srgbClr val="FFFFFF"/>
                          </a:solidFill>
                        </a:rPr>
                        <a:t>The HVN (verified)</a:t>
                      </a:r>
                    </a:p>
                  </a:txBody>
                  <a:tcPr marL="54864" marR="54864" marT="27432" marB="27432">
                    <a:solidFill>
                      <a:srgbClr val="1F3A5F"/>
                    </a:solidFill>
                  </a:tcPr>
                </a:tc>
                <a:tc>
                  <a:txBody>
                    <a:bodyPr/>
                    <a:lstStyle/>
                    <a:p>
                      <a:r>
                        <a:rPr sz="1200" b="1">
                          <a:solidFill>
                            <a:srgbClr val="FFFFFF"/>
                          </a:solidFill>
                        </a:rPr>
                        <a:t>Rivals (reported)</a:t>
                      </a:r>
                    </a:p>
                  </a:txBody>
                  <a:tcPr marL="54864" marR="54864" marT="27432" marB="27432">
                    <a:solidFill>
                      <a:srgbClr val="1F3A5F"/>
                    </a:solidFill>
                  </a:tcPr>
                </a:tc>
              </a:tr>
              <a:tr h="502920">
                <a:tc>
                  <a:txBody>
                    <a:bodyPr/>
                    <a:lstStyle/>
                    <a:p>
                      <a:r>
                        <a:rPr sz="1200" b="0">
                          <a:solidFill>
                            <a:srgbClr val="222222"/>
                          </a:solidFill>
                        </a:rPr>
                        <a:t>Access model</a:t>
                      </a:r>
                    </a:p>
                  </a:txBody>
                  <a:tcPr marL="54864" marR="54864" marT="27432" marB="27432">
                    <a:solidFill>
                      <a:srgbClr val="FFFFFF"/>
                    </a:solidFill>
                  </a:tcPr>
                </a:tc>
                <a:tc>
                  <a:txBody>
                    <a:bodyPr/>
                    <a:lstStyle/>
                    <a:p>
                      <a:r>
                        <a:rPr sz="1200" b="0">
                          <a:solidFill>
                            <a:srgbClr val="222222"/>
                          </a:solidFill>
                        </a:rPr>
                        <a:t>Pay per visit</a:t>
                      </a:r>
                    </a:p>
                  </a:txBody>
                  <a:tcPr marL="54864" marR="54864" marT="27432" marB="27432">
                    <a:solidFill>
                      <a:srgbClr val="FFFFFF"/>
                    </a:solidFill>
                  </a:tcPr>
                </a:tc>
                <a:tc>
                  <a:txBody>
                    <a:bodyPr/>
                    <a:lstStyle/>
                    <a:p>
                      <a:r>
                        <a:rPr sz="1200" b="0">
                          <a:solidFill>
                            <a:srgbClr val="222222"/>
                          </a:solidFill>
                        </a:rPr>
                        <a:t>Membership clubs</a:t>
                      </a:r>
                    </a:p>
                  </a:txBody>
                  <a:tcPr marL="54864" marR="54864" marT="27432" marB="27432">
                    <a:solidFill>
                      <a:srgbClr val="FFFFFF"/>
                    </a:solidFill>
                  </a:tcPr>
                </a:tc>
              </a:tr>
              <a:tr h="502920">
                <a:tc>
                  <a:txBody>
                    <a:bodyPr/>
                    <a:lstStyle/>
                    <a:p>
                      <a:r>
                        <a:rPr sz="1200" b="0">
                          <a:solidFill>
                            <a:srgbClr val="222222"/>
                          </a:solidFill>
                        </a:rPr>
                        <a:t>Price transparency</a:t>
                      </a:r>
                    </a:p>
                  </a:txBody>
                  <a:tcPr marL="54864" marR="54864" marT="27432" marB="27432">
                    <a:solidFill>
                      <a:srgbClr val="EDF2F4"/>
                    </a:solidFill>
                  </a:tcPr>
                </a:tc>
                <a:tc>
                  <a:txBody>
                    <a:bodyPr/>
                    <a:lstStyle/>
                    <a:p>
                      <a:r>
                        <a:rPr sz="1200" b="0">
                          <a:solidFill>
                            <a:srgbClr val="222222"/>
                          </a:solidFill>
                        </a:rPr>
                        <a:t>High (single services)</a:t>
                      </a:r>
                    </a:p>
                  </a:txBody>
                  <a:tcPr marL="54864" marR="54864" marT="27432" marB="27432">
                    <a:solidFill>
                      <a:srgbClr val="EDF2F4"/>
                    </a:solidFill>
                  </a:tcPr>
                </a:tc>
                <a:tc>
                  <a:txBody>
                    <a:bodyPr/>
                    <a:lstStyle/>
                    <a:p>
                      <a:r>
                        <a:rPr sz="1200" b="0">
                          <a:solidFill>
                            <a:srgbClr val="222222"/>
                          </a:solidFill>
                        </a:rPr>
                        <a:t>Fees / on request</a:t>
                      </a:r>
                    </a:p>
                  </a:txBody>
                  <a:tcPr marL="54864" marR="54864" marT="27432" marB="27432">
                    <a:solidFill>
                      <a:srgbClr val="EDF2F4"/>
                    </a:solidFill>
                  </a:tcPr>
                </a:tc>
              </a:tr>
              <a:tr h="502920">
                <a:tc>
                  <a:txBody>
                    <a:bodyPr/>
                    <a:lstStyle/>
                    <a:p>
                      <a:r>
                        <a:rPr sz="1200" b="0">
                          <a:solidFill>
                            <a:srgbClr val="222222"/>
                          </a:solidFill>
                        </a:rPr>
                        <a:t>Clinical breadth, one team</a:t>
                      </a:r>
                    </a:p>
                  </a:txBody>
                  <a:tcPr marL="54864" marR="54864" marT="27432" marB="27432">
                    <a:solidFill>
                      <a:srgbClr val="FFFFFF"/>
                    </a:solidFill>
                  </a:tcPr>
                </a:tc>
                <a:tc>
                  <a:txBody>
                    <a:bodyPr/>
                    <a:lstStyle/>
                    <a:p>
                      <a:r>
                        <a:rPr sz="1200" b="0">
                          <a:solidFill>
                            <a:srgbClr val="222222"/>
                          </a:solidFill>
                        </a:rPr>
                        <a:t>Yes</a:t>
                      </a:r>
                    </a:p>
                  </a:txBody>
                  <a:tcPr marL="54864" marR="54864" marT="27432" marB="27432">
                    <a:solidFill>
                      <a:srgbClr val="FFFFFF"/>
                    </a:solidFill>
                  </a:tcPr>
                </a:tc>
                <a:tc>
                  <a:txBody>
                    <a:bodyPr/>
                    <a:lstStyle/>
                    <a:p>
                      <a:r>
                        <a:rPr sz="1200" b="0">
                          <a:solidFill>
                            <a:srgbClr val="222222"/>
                          </a:solidFill>
                        </a:rPr>
                        <a:t>Operators or partners</a:t>
                      </a:r>
                    </a:p>
                  </a:txBody>
                  <a:tcPr marL="54864" marR="54864" marT="27432" marB="27432">
                    <a:solidFill>
                      <a:srgbClr val="FFFFFF"/>
                    </a:solidFill>
                  </a:tcPr>
                </a:tc>
              </a:tr>
              <a:tr h="502920">
                <a:tc>
                  <a:txBody>
                    <a:bodyPr/>
                    <a:lstStyle/>
                    <a:p>
                      <a:r>
                        <a:rPr sz="1200" b="0">
                          <a:solidFill>
                            <a:srgbClr val="222222"/>
                          </a:solidFill>
                        </a:rPr>
                        <a:t>Visible quality signal</a:t>
                      </a:r>
                    </a:p>
                  </a:txBody>
                  <a:tcPr marL="54864" marR="54864" marT="27432" marB="27432">
                    <a:solidFill>
                      <a:srgbClr val="EDF2F4"/>
                    </a:solidFill>
                  </a:tcPr>
                </a:tc>
                <a:tc>
                  <a:txBody>
                    <a:bodyPr/>
                    <a:lstStyle/>
                    <a:p>
                      <a:r>
                        <a:rPr sz="1200" b="0">
                          <a:solidFill>
                            <a:srgbClr val="222222"/>
                          </a:solidFill>
                        </a:rPr>
                        <a:t>Badge unlinked; status ?</a:t>
                      </a:r>
                    </a:p>
                  </a:txBody>
                  <a:tcPr marL="54864" marR="54864" marT="27432" marB="27432">
                    <a:solidFill>
                      <a:srgbClr val="EDF2F4"/>
                    </a:solidFill>
                  </a:tcPr>
                </a:tc>
                <a:tc>
                  <a:txBody>
                    <a:bodyPr/>
                    <a:lstStyle/>
                    <a:p>
                      <a:r>
                        <a:rPr sz="1200" b="0">
                          <a:solidFill>
                            <a:srgbClr val="222222"/>
                          </a:solidFill>
                        </a:rPr>
                        <a:t>Some rated (e.g. CQC Good)</a:t>
                      </a:r>
                    </a:p>
                  </a:txBody>
                  <a:tcPr marL="54864" marR="54864" marT="27432" marB="27432">
                    <a:solidFill>
                      <a:srgbClr val="EDF2F4"/>
                    </a:solidFill>
                  </a:tcPr>
                </a:tc>
              </a:tr>
              <a:tr h="502920">
                <a:tc>
                  <a:txBody>
                    <a:bodyPr/>
                    <a:lstStyle/>
                    <a:p>
                      <a:r>
                        <a:rPr sz="1200" b="0">
                          <a:solidFill>
                            <a:srgbClr val="222222"/>
                          </a:solidFill>
                        </a:rPr>
                        <a:t>Setting and belonging</a:t>
                      </a:r>
                    </a:p>
                  </a:txBody>
                  <a:tcPr marL="54864" marR="54864" marT="27432" marB="27432">
                    <a:solidFill>
                      <a:srgbClr val="FFFFFF"/>
                    </a:solidFill>
                  </a:tcPr>
                </a:tc>
                <a:tc>
                  <a:txBody>
                    <a:bodyPr/>
                    <a:lstStyle/>
                    <a:p>
                      <a:r>
                        <a:rPr sz="1200" b="0">
                          <a:solidFill>
                            <a:srgbClr val="222222"/>
                          </a:solidFill>
                        </a:rPr>
                        <a:t>Clinic + rituals</a:t>
                      </a:r>
                    </a:p>
                  </a:txBody>
                  <a:tcPr marL="54864" marR="54864" marT="27432" marB="27432">
                    <a:solidFill>
                      <a:srgbClr val="FFFFFF"/>
                    </a:solidFill>
                  </a:tcPr>
                </a:tc>
                <a:tc>
                  <a:txBody>
                    <a:bodyPr/>
                    <a:lstStyle/>
                    <a:p>
                      <a:r>
                        <a:rPr sz="1200" b="0">
                          <a:solidFill>
                            <a:srgbClr val="222222"/>
                          </a:solidFill>
                        </a:rPr>
                        <a:t>Heritage hotels, clubs</a:t>
                      </a:r>
                    </a:p>
                  </a:txBody>
                  <a:tcPr marL="54864" marR="54864" marT="27432" marB="27432">
                    <a:solidFill>
                      <a:srgbClr val="FFFFFF"/>
                    </a:solidFill>
                  </a:tcPr>
                </a:tc>
              </a:tr>
              <a:tr h="502920">
                <a:tc>
                  <a:txBody>
                    <a:bodyPr/>
                    <a:lstStyle/>
                    <a:p>
                      <a:r>
                        <a:rPr sz="1200" b="0">
                          <a:solidFill>
                            <a:srgbClr val="222222"/>
                          </a:solidFill>
                        </a:rPr>
                        <a:t>Single-need depth</a:t>
                      </a:r>
                    </a:p>
                  </a:txBody>
                  <a:tcPr marL="54864" marR="54864" marT="27432" marB="27432">
                    <a:solidFill>
                      <a:srgbClr val="EDF2F4"/>
                    </a:solidFill>
                  </a:tcPr>
                </a:tc>
                <a:tc>
                  <a:txBody>
                    <a:bodyPr/>
                    <a:lstStyle/>
                    <a:p>
                      <a:r>
                        <a:rPr sz="1200" b="0">
                          <a:solidFill>
                            <a:srgbClr val="222222"/>
                          </a:solidFill>
                        </a:rPr>
                        <a:t>Doctor + TCM; page defect</a:t>
                      </a:r>
                    </a:p>
                  </a:txBody>
                  <a:tcPr marL="54864" marR="54864" marT="27432" marB="27432">
                    <a:solidFill>
                      <a:srgbClr val="EDF2F4"/>
                    </a:solidFill>
                  </a:tcPr>
                </a:tc>
                <a:tc>
                  <a:txBody>
                    <a:bodyPr/>
                    <a:lstStyle/>
                    <a:p>
                      <a:r>
                        <a:rPr sz="1200" b="0">
                          <a:solidFill>
                            <a:srgbClr val="222222"/>
                          </a:solidFill>
                        </a:rPr>
                        <a:t>Specialists</a:t>
                      </a:r>
                    </a:p>
                  </a:txBody>
                  <a:tcPr marL="54864" marR="54864" marT="27432" marB="27432">
                    <a:solidFill>
                      <a:srgbClr val="EDF2F4"/>
                    </a:solidFill>
                  </a:tcPr>
                </a:tc>
              </a:tr>
            </a:tbl>
          </a:graphicData>
        </a:graphic>
      </p:graphicFrame>
      <p:pic>
        <p:nvPicPr>
          <p:cNvPr id="7" name="Picture 6" descr="s4-choice.png"/>
          <p:cNvPicPr>
            <a:picLocks noChangeAspect="1"/>
          </p:cNvPicPr>
          <p:nvPr/>
        </p:nvPicPr>
        <p:blipFill>
          <a:blip r:embed="rId3"/>
          <a:stretch>
            <a:fillRect/>
          </a:stretch>
        </p:blipFill>
        <p:spPr>
          <a:xfrm>
            <a:off x="7406640" y="1828800"/>
            <a:ext cx="4480560" cy="2028318"/>
          </a:xfrm>
          <a:prstGeom prst="rect">
            <a:avLst/>
          </a:prstGeom>
        </p:spPr>
      </p:pic>
      <p:sp>
        <p:nvSpPr>
          <p:cNvPr id="8" name="TextBox 7"/>
          <p:cNvSpPr txBox="1"/>
          <p:nvPr/>
        </p:nvSpPr>
        <p:spPr>
          <a:xfrm>
            <a:off x="7406640" y="4023360"/>
            <a:ext cx="4480560" cy="1371600"/>
          </a:xfrm>
          <a:prstGeom prst="rect">
            <a:avLst/>
          </a:prstGeom>
          <a:noFill/>
        </p:spPr>
        <p:txBody>
          <a:bodyPr wrap="square">
            <a:spAutoFit/>
          </a:bodyPr>
          <a:lstStyle/>
          <a:p>
            <a:pPr algn="l">
              <a:spcAft>
                <a:spcPts val="600"/>
              </a:spcAft>
            </a:pPr>
            <a:r>
              <a:rPr sz="1100" b="0">
                <a:solidFill>
                  <a:srgbClr val="5C677D"/>
                </a:solidFill>
              </a:rPr>
              <a:t>[SIMULATED] fictional personas; seed primed 'no membership' and 'not inspected'. Use only to choose what to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SWOT, with confidence</a:t>
            </a:r>
          </a:p>
        </p:txBody>
      </p:sp>
      <p:sp>
        <p:nvSpPr>
          <p:cNvPr id="4" name="TextBox 3"/>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strategic-intelligence-report.md §8   |   The HVN strategy review · 15 Oct 2026 · 13</a:t>
            </a:r>
          </a:p>
        </p:txBody>
      </p:sp>
      <p:sp>
        <p:nvSpPr>
          <p:cNvPr id="5" name="Rectangle 4"/>
          <p:cNvSpPr/>
          <p:nvPr/>
        </p:nvSpPr>
        <p:spPr>
          <a:xfrm>
            <a:off x="457200" y="1188720"/>
            <a:ext cx="5532120" cy="246888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82296" cy="24688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80160"/>
            <a:ext cx="5257800" cy="457200"/>
          </a:xfrm>
          <a:prstGeom prst="rect">
            <a:avLst/>
          </a:prstGeom>
          <a:noFill/>
        </p:spPr>
        <p:txBody>
          <a:bodyPr wrap="square">
            <a:spAutoFit/>
          </a:bodyPr>
          <a:lstStyle/>
          <a:p>
            <a:pPr algn="l">
              <a:spcAft>
                <a:spcPts val="600"/>
              </a:spcAft>
            </a:pPr>
            <a:r>
              <a:rPr sz="1500" b="1">
                <a:solidFill>
                  <a:srgbClr val="2A9D8F"/>
                </a:solidFill>
              </a:rPr>
              <a:t>Strengths</a:t>
            </a:r>
          </a:p>
        </p:txBody>
      </p:sp>
      <p:sp>
        <p:nvSpPr>
          <p:cNvPr id="8" name="TextBox 7"/>
          <p:cNvSpPr txBox="1"/>
          <p:nvPr/>
        </p:nvSpPr>
        <p:spPr>
          <a:xfrm>
            <a:off x="640080" y="1737360"/>
            <a:ext cx="5257800" cy="1828800"/>
          </a:xfrm>
          <a:prstGeom prst="rect">
            <a:avLst/>
          </a:prstGeom>
          <a:noFill/>
        </p:spPr>
        <p:txBody>
          <a:bodyPr wrap="square">
            <a:spAutoFit/>
          </a:bodyPr>
          <a:lstStyle/>
          <a:p>
            <a:pPr algn="l">
              <a:spcAft>
                <a:spcPts val="600"/>
              </a:spcAft>
            </a:pPr>
            <a:r>
              <a:rPr sz="1200" b="0">
                <a:solidFill>
                  <a:srgbClr val="222222"/>
                </a:solidFill>
              </a:rPr>
              <a:t>• Doctor-led team, one address [V]</a:t>
            </a:r>
          </a:p>
          <a:p>
            <a:pPr algn="l">
              <a:spcAft>
                <a:spcPts val="600"/>
              </a:spcAft>
            </a:pPr>
            <a:r>
              <a:rPr sz="1200" b="0">
                <a:solidFill>
                  <a:srgbClr val="222222"/>
                </a:solidFill>
              </a:rPr>
              <a:t>• Prices on ~98% of service pages [V]</a:t>
            </a:r>
          </a:p>
          <a:p>
            <a:pPr algn="l">
              <a:spcAft>
                <a:spcPts val="600"/>
              </a:spcAft>
            </a:pPr>
            <a:r>
              <a:rPr sz="1200" b="0">
                <a:solidFill>
                  <a:srgbClr val="222222"/>
                </a:solidFill>
              </a:rPr>
              <a:t>• No membership or joining fee [V]</a:t>
            </a:r>
          </a:p>
          <a:p>
            <a:pPr algn="l">
              <a:spcAft>
                <a:spcPts val="600"/>
              </a:spcAft>
            </a:pPr>
            <a:r>
              <a:rPr sz="1200" b="0">
                <a:solidFill>
                  <a:srgbClr val="222222"/>
                </a:solidFill>
              </a:rPr>
              <a:t>• Doctor check before IV [V]</a:t>
            </a:r>
          </a:p>
          <a:p>
            <a:pPr algn="l">
              <a:spcAft>
                <a:spcPts val="600"/>
              </a:spcAft>
            </a:pPr>
            <a:r>
              <a:rPr sz="1200" b="0">
                <a:solidFill>
                  <a:srgbClr val="222222"/>
                </a:solidFill>
              </a:rPr>
              <a:t>• Open 7 days [V]</a:t>
            </a:r>
          </a:p>
        </p:txBody>
      </p:sp>
      <p:sp>
        <p:nvSpPr>
          <p:cNvPr id="9" name="Rectangle 8"/>
          <p:cNvSpPr/>
          <p:nvPr/>
        </p:nvSpPr>
        <p:spPr>
          <a:xfrm>
            <a:off x="6172200" y="1188720"/>
            <a:ext cx="5532120" cy="246888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188720"/>
            <a:ext cx="82296" cy="246888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280160"/>
            <a:ext cx="5257800" cy="457200"/>
          </a:xfrm>
          <a:prstGeom prst="rect">
            <a:avLst/>
          </a:prstGeom>
          <a:noFill/>
        </p:spPr>
        <p:txBody>
          <a:bodyPr wrap="square">
            <a:spAutoFit/>
          </a:bodyPr>
          <a:lstStyle/>
          <a:p>
            <a:pPr algn="l">
              <a:spcAft>
                <a:spcPts val="600"/>
              </a:spcAft>
            </a:pPr>
            <a:r>
              <a:rPr sz="1500" b="1">
                <a:solidFill>
                  <a:srgbClr val="C8553D"/>
                </a:solidFill>
              </a:rPr>
              <a:t>Weaknesses</a:t>
            </a:r>
          </a:p>
        </p:txBody>
      </p:sp>
      <p:sp>
        <p:nvSpPr>
          <p:cNvPr id="12" name="TextBox 11"/>
          <p:cNvSpPr txBox="1"/>
          <p:nvPr/>
        </p:nvSpPr>
        <p:spPr>
          <a:xfrm>
            <a:off x="6355080" y="1737360"/>
            <a:ext cx="5257800" cy="1828800"/>
          </a:xfrm>
          <a:prstGeom prst="rect">
            <a:avLst/>
          </a:prstGeom>
          <a:noFill/>
        </p:spPr>
        <p:txBody>
          <a:bodyPr wrap="square">
            <a:spAutoFit/>
          </a:bodyPr>
          <a:lstStyle/>
          <a:p>
            <a:pPr algn="l">
              <a:spcAft>
                <a:spcPts val="600"/>
              </a:spcAft>
            </a:pPr>
            <a:r>
              <a:rPr sz="1200" b="0">
                <a:solidFill>
                  <a:srgbClr val="222222"/>
                </a:solidFill>
              </a:rPr>
              <a:t>• Plan step unpriced; 404 programmes [V]</a:t>
            </a:r>
          </a:p>
          <a:p>
            <a:pPr algn="l">
              <a:spcAft>
                <a:spcPts val="600"/>
              </a:spcAft>
            </a:pPr>
            <a:r>
              <a:rPr sz="1200" b="0">
                <a:solidFill>
                  <a:srgbClr val="222222"/>
                </a:solidFill>
              </a:rPr>
              <a:t>• Women's-health pages wrong [V]</a:t>
            </a:r>
          </a:p>
          <a:p>
            <a:pPr algn="l">
              <a:spcAft>
                <a:spcPts val="600"/>
              </a:spcAft>
            </a:pPr>
            <a:r>
              <a:rPr sz="1200" b="0">
                <a:solidFill>
                  <a:srgbClr val="222222"/>
                </a:solidFill>
              </a:rPr>
              <a:t>• Broken links; tap-to-call on 1 page [V]</a:t>
            </a:r>
          </a:p>
          <a:p>
            <a:pPr algn="l">
              <a:spcAft>
                <a:spcPts val="600"/>
              </a:spcAft>
            </a:pPr>
            <a:r>
              <a:rPr sz="1200" b="0">
                <a:solidFill>
                  <a:srgbClr val="222222"/>
                </a:solidFill>
              </a:rPr>
              <a:t>• Unlinked CQC badge; status unknown</a:t>
            </a:r>
          </a:p>
          <a:p>
            <a:pPr algn="l">
              <a:spcAft>
                <a:spcPts val="600"/>
              </a:spcAft>
            </a:pPr>
            <a:r>
              <a:rPr sz="1200" b="0">
                <a:solidFill>
                  <a:srgbClr val="222222"/>
                </a:solidFill>
              </a:rPr>
              <a:t>• Claim wording; no measurement [V]</a:t>
            </a:r>
          </a:p>
        </p:txBody>
      </p:sp>
      <p:sp>
        <p:nvSpPr>
          <p:cNvPr id="13" name="Rectangle 12"/>
          <p:cNvSpPr/>
          <p:nvPr/>
        </p:nvSpPr>
        <p:spPr>
          <a:xfrm>
            <a:off x="457200" y="3794760"/>
            <a:ext cx="5532120" cy="246888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94760"/>
            <a:ext cx="82296" cy="24688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86200"/>
            <a:ext cx="5257800" cy="457200"/>
          </a:xfrm>
          <a:prstGeom prst="rect">
            <a:avLst/>
          </a:prstGeom>
          <a:noFill/>
        </p:spPr>
        <p:txBody>
          <a:bodyPr wrap="square">
            <a:spAutoFit/>
          </a:bodyPr>
          <a:lstStyle/>
          <a:p>
            <a:pPr algn="l">
              <a:spcAft>
                <a:spcPts val="600"/>
              </a:spcAft>
            </a:pPr>
            <a:r>
              <a:rPr sz="1500" b="1">
                <a:solidFill>
                  <a:srgbClr val="1F3A5F"/>
                </a:solidFill>
              </a:rPr>
              <a:t>Opportunities</a:t>
            </a:r>
          </a:p>
        </p:txBody>
      </p:sp>
      <p:sp>
        <p:nvSpPr>
          <p:cNvPr id="16" name="TextBox 15"/>
          <p:cNvSpPr txBox="1"/>
          <p:nvPr/>
        </p:nvSpPr>
        <p:spPr>
          <a:xfrm>
            <a:off x="640080" y="4343400"/>
            <a:ext cx="5257800" cy="1828800"/>
          </a:xfrm>
          <a:prstGeom prst="rect">
            <a:avLst/>
          </a:prstGeom>
          <a:noFill/>
        </p:spPr>
        <p:txBody>
          <a:bodyPr wrap="square">
            <a:spAutoFit/>
          </a:bodyPr>
          <a:lstStyle/>
          <a:p>
            <a:pPr algn="l">
              <a:spcAft>
                <a:spcPts val="600"/>
              </a:spcAft>
            </a:pPr>
            <a:r>
              <a:rPr sz="1200" b="0">
                <a:solidFill>
                  <a:srgbClr val="222222"/>
                </a:solidFill>
              </a:rPr>
              <a:t>• Transparent alternative to clubs [Low]</a:t>
            </a:r>
          </a:p>
          <a:p>
            <a:pPr algn="l">
              <a:spcAft>
                <a:spcPts val="600"/>
              </a:spcAft>
            </a:pPr>
            <a:r>
              <a:rPr sz="1200" b="0">
                <a:solidFill>
                  <a:srgbClr val="222222"/>
                </a:solidFill>
              </a:rPr>
              <a:t>• One team for multi-need clients [Low]</a:t>
            </a:r>
          </a:p>
          <a:p>
            <a:pPr algn="l">
              <a:spcAft>
                <a:spcPts val="600"/>
              </a:spcAft>
            </a:pPr>
            <a:r>
              <a:rPr sz="1200" b="0">
                <a:solidFill>
                  <a:srgbClr val="222222"/>
                </a:solidFill>
              </a:rPr>
              <a:t>• Women's health and fertility [Low–Med]</a:t>
            </a:r>
          </a:p>
          <a:p>
            <a:pPr algn="l">
              <a:spcAft>
                <a:spcPts val="600"/>
              </a:spcAft>
            </a:pPr>
            <a:r>
              <a:rPr sz="1200" b="0">
                <a:solidFill>
                  <a:srgbClr val="222222"/>
                </a:solidFill>
              </a:rPr>
              <a:t>• Evidence-honest positioning [Med]</a:t>
            </a:r>
          </a:p>
          <a:p>
            <a:pPr algn="l">
              <a:spcAft>
                <a:spcPts val="600"/>
              </a:spcAft>
            </a:pPr>
            <a:r>
              <a:rPr sz="1200" b="0">
                <a:solidFill>
                  <a:srgbClr val="222222"/>
                </a:solidFill>
              </a:rPr>
              <a:t>• Cheap SEO wins [High]</a:t>
            </a:r>
          </a:p>
        </p:txBody>
      </p:sp>
      <p:sp>
        <p:nvSpPr>
          <p:cNvPr id="17" name="Rectangle 16"/>
          <p:cNvSpPr/>
          <p:nvPr/>
        </p:nvSpPr>
        <p:spPr>
          <a:xfrm>
            <a:off x="6172200" y="3794760"/>
            <a:ext cx="5532120" cy="246888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794760"/>
            <a:ext cx="82296" cy="246888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3886200"/>
            <a:ext cx="5257800" cy="457200"/>
          </a:xfrm>
          <a:prstGeom prst="rect">
            <a:avLst/>
          </a:prstGeom>
          <a:noFill/>
        </p:spPr>
        <p:txBody>
          <a:bodyPr wrap="square">
            <a:spAutoFit/>
          </a:bodyPr>
          <a:lstStyle/>
          <a:p>
            <a:pPr algn="l">
              <a:spcAft>
                <a:spcPts val="600"/>
              </a:spcAft>
            </a:pPr>
            <a:r>
              <a:rPr sz="1500" b="1">
                <a:solidFill>
                  <a:srgbClr val="5C677D"/>
                </a:solidFill>
              </a:rPr>
              <a:t>Threats</a:t>
            </a:r>
          </a:p>
        </p:txBody>
      </p:sp>
      <p:sp>
        <p:nvSpPr>
          <p:cNvPr id="20" name="TextBox 19"/>
          <p:cNvSpPr txBox="1"/>
          <p:nvPr/>
        </p:nvSpPr>
        <p:spPr>
          <a:xfrm>
            <a:off x="6355080" y="4343400"/>
            <a:ext cx="5257800" cy="1828800"/>
          </a:xfrm>
          <a:prstGeom prst="rect">
            <a:avLst/>
          </a:prstGeom>
          <a:noFill/>
        </p:spPr>
        <p:txBody>
          <a:bodyPr wrap="square">
            <a:spAutoFit/>
          </a:bodyPr>
          <a:lstStyle/>
          <a:p>
            <a:pPr algn="l">
              <a:spcAft>
                <a:spcPts val="600"/>
              </a:spcAft>
            </a:pPr>
            <a:r>
              <a:rPr sz="1200" b="0">
                <a:solidFill>
                  <a:srgbClr val="222222"/>
                </a:solidFill>
              </a:rPr>
              <a:t>• New 2026 hotel longevity supply [R]</a:t>
            </a:r>
          </a:p>
          <a:p>
            <a:pPr algn="l">
              <a:spcAft>
                <a:spcPts val="600"/>
              </a:spcAft>
            </a:pPr>
            <a:r>
              <a:rPr sz="1200" b="0">
                <a:solidFill>
                  <a:srgbClr val="222222"/>
                </a:solidFill>
              </a:rPr>
              <a:t>• £15.5k programme anchors [R]</a:t>
            </a:r>
          </a:p>
          <a:p>
            <a:pPr algn="l">
              <a:spcAft>
                <a:spcPts val="600"/>
              </a:spcAft>
            </a:pPr>
            <a:r>
              <a:rPr sz="1200" b="0">
                <a:solidFill>
                  <a:srgbClr val="222222"/>
                </a:solidFill>
              </a:rPr>
              <a:t>• Lower-priced specialists [R, Low]</a:t>
            </a:r>
          </a:p>
          <a:p>
            <a:pPr algn="l">
              <a:spcAft>
                <a:spcPts val="600"/>
              </a:spcAft>
            </a:pPr>
            <a:r>
              <a:rPr sz="1200" b="0">
                <a:solidFill>
                  <a:srgbClr val="222222"/>
                </a:solidFill>
              </a:rPr>
              <a:t>• ASA scrutiny; licensing pending [Reg/R]</a:t>
            </a:r>
          </a:p>
          <a:p>
            <a:pPr algn="l">
              <a:spcAft>
                <a:spcPts val="600"/>
              </a:spcAft>
            </a:pPr>
            <a:r>
              <a:rPr sz="1200" b="0">
                <a:solidFill>
                  <a:srgbClr val="222222"/>
                </a:solidFill>
              </a:rPr>
              <a:t>• Rivals' visible ratings [Reg via search]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What the simulations are worth</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Useful for generating hypotheses; not evidence of customer behaviour</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results/*/raw/simulation-db-export.json; report-audit.md D1–D6   |   The HVN strategy review · 15 Oct 2026 · 14</a:t>
            </a:r>
          </a:p>
        </p:txBody>
      </p:sp>
      <p:pic>
        <p:nvPicPr>
          <p:cNvPr id="6" name="Picture 5" descr="simulation-convergence.png"/>
          <p:cNvPicPr>
            <a:picLocks noChangeAspect="1"/>
          </p:cNvPicPr>
          <p:nvPr/>
        </p:nvPicPr>
        <p:blipFill>
          <a:blip r:embed="rId3"/>
          <a:stretch>
            <a:fillRect/>
          </a:stretch>
        </p:blipFill>
        <p:spPr>
          <a:xfrm>
            <a:off x="365760" y="1600200"/>
            <a:ext cx="7863840" cy="3795290"/>
          </a:xfrm>
          <a:prstGeom prst="rect">
            <a:avLst/>
          </a:prstGeom>
        </p:spPr>
      </p:pic>
      <p:sp>
        <p:nvSpPr>
          <p:cNvPr id="7" name="Rectangle 6"/>
          <p:cNvSpPr/>
          <p:nvPr/>
        </p:nvSpPr>
        <p:spPr>
          <a:xfrm>
            <a:off x="8412480" y="1737360"/>
            <a:ext cx="3383280"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0" y="1737360"/>
            <a:ext cx="82296" cy="4389120"/>
          </a:xfrm>
          <a:prstGeom prst="rect">
            <a:avLst/>
          </a:prstGeom>
          <a:solidFill>
            <a:srgbClr val="5C67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1828800"/>
            <a:ext cx="3108960" cy="457200"/>
          </a:xfrm>
          <a:prstGeom prst="rect">
            <a:avLst/>
          </a:prstGeom>
          <a:noFill/>
        </p:spPr>
        <p:txBody>
          <a:bodyPr wrap="square">
            <a:spAutoFit/>
          </a:bodyPr>
          <a:lstStyle/>
          <a:p>
            <a:pPr algn="l">
              <a:spcAft>
                <a:spcPts val="600"/>
              </a:spcAft>
            </a:pPr>
            <a:r>
              <a:rPr sz="1500" b="1">
                <a:solidFill>
                  <a:srgbClr val="5C677D"/>
                </a:solidFill>
              </a:rPr>
              <a:t>Limits</a:t>
            </a:r>
          </a:p>
        </p:txBody>
      </p:sp>
      <p:sp>
        <p:nvSpPr>
          <p:cNvPr id="10" name="TextBox 9"/>
          <p:cNvSpPr txBox="1"/>
          <p:nvPr/>
        </p:nvSpPr>
        <p:spPr>
          <a:xfrm>
            <a:off x="8595360" y="2286000"/>
            <a:ext cx="3108960" cy="3749040"/>
          </a:xfrm>
          <a:prstGeom prst="rect">
            <a:avLst/>
          </a:prstGeom>
          <a:noFill/>
        </p:spPr>
        <p:txBody>
          <a:bodyPr wrap="square">
            <a:spAutoFit/>
          </a:bodyPr>
          <a:lstStyle/>
          <a:p>
            <a:pPr algn="l">
              <a:spcAft>
                <a:spcPts val="600"/>
              </a:spcAft>
            </a:pPr>
            <a:r>
              <a:rPr sz="1200" b="0">
                <a:solidFill>
                  <a:srgbClr val="222222"/>
                </a:solidFill>
              </a:rPr>
              <a:t>• One model plays every persona; cautious voice</a:t>
            </a:r>
          </a:p>
          <a:p>
            <a:pPr algn="l">
              <a:spcAft>
                <a:spcPts val="600"/>
              </a:spcAft>
            </a:pPr>
            <a:r>
              <a:rPr sz="1200" b="0">
                <a:solidFill>
                  <a:srgbClr val="222222"/>
                </a:solidFill>
              </a:rPr>
              <a:t>• Seeds and opening posts primed key themes</a:t>
            </a:r>
          </a:p>
          <a:p>
            <a:pPr algn="l">
              <a:spcAft>
                <a:spcPts val="600"/>
              </a:spcAft>
            </a:pPr>
            <a:r>
              <a:rPr sz="1200" b="0">
                <a:solidFill>
                  <a:srgbClr val="222222"/>
                </a:solidFill>
              </a:rPr>
              <a:t>• S3 never tested the alternative taglines</a:t>
            </a:r>
          </a:p>
          <a:p>
            <a:pPr algn="l">
              <a:spcAft>
                <a:spcPts val="600"/>
              </a:spcAft>
            </a:pPr>
            <a:r>
              <a:rPr sz="1200" b="0">
                <a:solidFill>
                  <a:srgbClr val="222222"/>
                </a:solidFill>
              </a:rPr>
              <a:t>• Fabricated 'experiences' excluded</a:t>
            </a:r>
          </a:p>
          <a:p>
            <a:pPr algn="l">
              <a:spcAft>
                <a:spcPts val="600"/>
              </a:spcAft>
            </a:pPr>
            <a:r>
              <a:rPr sz="1200" b="0">
                <a:solidFill>
                  <a:srgbClr val="222222"/>
                </a:solidFill>
              </a:rPr>
              <a:t>• No demand, conversion or WTP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We audited our own v1 report</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29 key statements re-checked: 12 confirmed, 5 corrected, 7 downgraded, 5 now Unknown</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report-audit.md   |   The HVN strategy review · 15 Oct 2026 · 15</a:t>
            </a:r>
          </a:p>
        </p:txBody>
      </p:sp>
      <p:pic>
        <p:nvPicPr>
          <p:cNvPr id="6" name="Picture 5" descr="audit-outcomes.png"/>
          <p:cNvPicPr>
            <a:picLocks noChangeAspect="1"/>
          </p:cNvPicPr>
          <p:nvPr/>
        </p:nvPicPr>
        <p:blipFill>
          <a:blip r:embed="rId3"/>
          <a:stretch>
            <a:fillRect/>
          </a:stretch>
        </p:blipFill>
        <p:spPr>
          <a:xfrm>
            <a:off x="365760" y="1737360"/>
            <a:ext cx="6583680" cy="2483277"/>
          </a:xfrm>
          <a:prstGeom prst="rect">
            <a:avLst/>
          </a:prstGeom>
        </p:spPr>
      </p:pic>
      <p:sp>
        <p:nvSpPr>
          <p:cNvPr id="7" name="Rectangle 6"/>
          <p:cNvSpPr/>
          <p:nvPr/>
        </p:nvSpPr>
        <p:spPr>
          <a:xfrm>
            <a:off x="7223760" y="1737360"/>
            <a:ext cx="4572000"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0" y="1737360"/>
            <a:ext cx="82296" cy="4389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828800"/>
            <a:ext cx="4297680" cy="457200"/>
          </a:xfrm>
          <a:prstGeom prst="rect">
            <a:avLst/>
          </a:prstGeom>
          <a:noFill/>
        </p:spPr>
        <p:txBody>
          <a:bodyPr wrap="square">
            <a:spAutoFit/>
          </a:bodyPr>
          <a:lstStyle/>
          <a:p>
            <a:pPr algn="l">
              <a:spcAft>
                <a:spcPts val="600"/>
              </a:spcAft>
            </a:pPr>
            <a:r>
              <a:rPr sz="1500" b="1">
                <a:solidFill>
                  <a:srgbClr val="1F3A5F"/>
                </a:solidFill>
              </a:rPr>
              <a:t>What changed in v2</a:t>
            </a:r>
          </a:p>
        </p:txBody>
      </p:sp>
      <p:sp>
        <p:nvSpPr>
          <p:cNvPr id="10" name="TextBox 9"/>
          <p:cNvSpPr txBox="1"/>
          <p:nvPr/>
        </p:nvSpPr>
        <p:spPr>
          <a:xfrm>
            <a:off x="7406640" y="2286000"/>
            <a:ext cx="4297680" cy="3749040"/>
          </a:xfrm>
          <a:prstGeom prst="rect">
            <a:avLst/>
          </a:prstGeom>
          <a:noFill/>
        </p:spPr>
        <p:txBody>
          <a:bodyPr wrap="square">
            <a:spAutoFit/>
          </a:bodyPr>
          <a:lstStyle/>
          <a:p>
            <a:pPr algn="l">
              <a:spcAft>
                <a:spcPts val="600"/>
              </a:spcAft>
            </a:pPr>
            <a:r>
              <a:rPr sz="1300" b="0">
                <a:solidFill>
                  <a:srgbClr val="222222"/>
                </a:solidFill>
              </a:rPr>
              <a:t>• CQC status and all competitor figures → Unknown</a:t>
            </a:r>
          </a:p>
          <a:p>
            <a:pPr algn="l">
              <a:spcAft>
                <a:spcPts val="600"/>
              </a:spcAft>
            </a:pPr>
            <a:r>
              <a:rPr sz="1300" b="0">
                <a:solidFill>
                  <a:srgbClr val="222222"/>
                </a:solidFill>
              </a:rPr>
              <a:t>• Simulation counts labelled 'primed' where the question led</a:t>
            </a:r>
          </a:p>
          <a:p>
            <a:pPr algn="l">
              <a:spcAft>
                <a:spcPts val="600"/>
              </a:spcAft>
            </a:pPr>
            <a:r>
              <a:rPr sz="1300" b="0">
                <a:solidFill>
                  <a:srgbClr val="222222"/>
                </a:solidFill>
              </a:rPr>
              <a:t>• Positioning and starter pathway: validate, then adopt</a:t>
            </a:r>
          </a:p>
          <a:p>
            <a:pPr algn="l">
              <a:spcAft>
                <a:spcPts val="600"/>
              </a:spcAft>
            </a:pPr>
            <a:r>
              <a:rPr sz="1300" b="0">
                <a:solidFill>
                  <a:srgbClr val="222222"/>
                </a:solidFill>
              </a:rPr>
              <a:t>• Added benchmark, journey map, register, roadmap, validation plan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24 recommendations by impact and effort</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Most high-impact items are small or medium effort</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recommendations-register.md   |   The HVN strategy review · 15 Oct 2026 · 16</a:t>
            </a:r>
          </a:p>
        </p:txBody>
      </p:sp>
      <p:pic>
        <p:nvPicPr>
          <p:cNvPr id="6" name="Picture 5" descr="priority-matrix.png"/>
          <p:cNvPicPr>
            <a:picLocks noChangeAspect="1"/>
          </p:cNvPicPr>
          <p:nvPr/>
        </p:nvPicPr>
        <p:blipFill>
          <a:blip r:embed="rId3"/>
          <a:stretch>
            <a:fillRect/>
          </a:stretch>
        </p:blipFill>
        <p:spPr>
          <a:xfrm>
            <a:off x="548640" y="1600200"/>
            <a:ext cx="7155756" cy="4754880"/>
          </a:xfrm>
          <a:prstGeom prst="rect">
            <a:avLst/>
          </a:prstGeom>
        </p:spPr>
      </p:pic>
      <p:sp>
        <p:nvSpPr>
          <p:cNvPr id="7" name="Rectangle 6"/>
          <p:cNvSpPr/>
          <p:nvPr/>
        </p:nvSpPr>
        <p:spPr>
          <a:xfrm>
            <a:off x="8229600" y="1371600"/>
            <a:ext cx="3566160" cy="475488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1371600"/>
            <a:ext cx="82296" cy="475488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463040"/>
            <a:ext cx="3291840" cy="457200"/>
          </a:xfrm>
          <a:prstGeom prst="rect">
            <a:avLst/>
          </a:prstGeom>
          <a:noFill/>
        </p:spPr>
        <p:txBody>
          <a:bodyPr wrap="square">
            <a:spAutoFit/>
          </a:bodyPr>
          <a:lstStyle/>
          <a:p>
            <a:pPr algn="l">
              <a:spcAft>
                <a:spcPts val="600"/>
              </a:spcAft>
            </a:pPr>
            <a:r>
              <a:rPr sz="1500" b="1">
                <a:solidFill>
                  <a:srgbClr val="C8553D"/>
                </a:solidFill>
              </a:rPr>
              <a:t>Quick wins</a:t>
            </a:r>
          </a:p>
        </p:txBody>
      </p:sp>
      <p:sp>
        <p:nvSpPr>
          <p:cNvPr id="10" name="TextBox 9"/>
          <p:cNvSpPr txBox="1"/>
          <p:nvPr/>
        </p:nvSpPr>
        <p:spPr>
          <a:xfrm>
            <a:off x="8412480" y="1920240"/>
            <a:ext cx="3291840" cy="4114800"/>
          </a:xfrm>
          <a:prstGeom prst="rect">
            <a:avLst/>
          </a:prstGeom>
          <a:noFill/>
        </p:spPr>
        <p:txBody>
          <a:bodyPr wrap="square">
            <a:spAutoFit/>
          </a:bodyPr>
          <a:lstStyle/>
          <a:p>
            <a:pPr algn="l">
              <a:spcAft>
                <a:spcPts val="600"/>
              </a:spcAft>
            </a:pPr>
            <a:r>
              <a:rPr sz="1300" b="0">
                <a:solidFill>
                  <a:srgbClr val="222222"/>
                </a:solidFill>
              </a:rPr>
              <a:t>• R01 Women's-health pages</a:t>
            </a:r>
          </a:p>
          <a:p>
            <a:pPr algn="l">
              <a:spcAft>
                <a:spcPts val="600"/>
              </a:spcAft>
            </a:pPr>
            <a:r>
              <a:rPr sz="1300" b="0">
                <a:solidFill>
                  <a:srgbClr val="222222"/>
                </a:solidFill>
              </a:rPr>
              <a:t>• R02 Broken links</a:t>
            </a:r>
          </a:p>
          <a:p>
            <a:pPr algn="l">
              <a:spcAft>
                <a:spcPts val="600"/>
              </a:spcAft>
            </a:pPr>
            <a:r>
              <a:rPr sz="1300" b="0">
                <a:solidFill>
                  <a:srgbClr val="222222"/>
                </a:solidFill>
              </a:rPr>
              <a:t>• R05 CQC check + link</a:t>
            </a:r>
          </a:p>
          <a:p>
            <a:pPr algn="l">
              <a:spcAft>
                <a:spcPts val="600"/>
              </a:spcAft>
            </a:pPr>
            <a:r>
              <a:rPr sz="1300" b="0">
                <a:solidFill>
                  <a:srgbClr val="222222"/>
                </a:solidFill>
              </a:rPr>
              <a:t>• R06 Tap-to-call</a:t>
            </a:r>
          </a:p>
          <a:p>
            <a:pPr algn="l">
              <a:spcAft>
                <a:spcPts val="600"/>
              </a:spcAft>
            </a:pPr>
            <a:r>
              <a:rPr sz="1300" b="0">
                <a:solidFill>
                  <a:srgbClr val="222222"/>
                </a:solidFill>
              </a:rPr>
              <a:t>• R08 Fees and credits</a:t>
            </a:r>
          </a:p>
          <a:p>
            <a:pPr algn="l">
              <a:spcAft>
                <a:spcPts val="600"/>
              </a:spcAft>
            </a:pPr>
            <a:r>
              <a:rPr sz="1300" b="0">
                <a:solidFill>
                  <a:srgbClr val="222222"/>
                </a:solidFill>
              </a:rPr>
              <a:t>• R10 Price conflicts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Priority 1: the first 30 days</a:t>
            </a:r>
          </a:p>
        </p:txBody>
      </p:sp>
      <p:sp>
        <p:nvSpPr>
          <p:cNvPr id="4" name="TextBox 3"/>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recommendations-register.md   |   The HVN strategy review · 15 Oct 2026 · 17</a:t>
            </a:r>
          </a:p>
        </p:txBody>
      </p:sp>
      <p:graphicFrame>
        <p:nvGraphicFramePr>
          <p:cNvPr id="5" name="Table 4"/>
          <p:cNvGraphicFramePr>
            <a:graphicFrameLocks noGrp="1"/>
          </p:cNvGraphicFramePr>
          <p:nvPr/>
        </p:nvGraphicFramePr>
        <p:xfrm>
          <a:off x="365760" y="1188720"/>
          <a:ext cx="11430000" cy="4754880"/>
        </p:xfrm>
        <a:graphic>
          <a:graphicData uri="http://schemas.openxmlformats.org/drawingml/2006/table">
            <a:tbl>
              <a:tblPr firstRow="1" bandRow="1">
                <a:tableStyleId>{5C22544A-7EE6-4342-B048-85BDC9FD1C3A}</a:tableStyleId>
              </a:tblPr>
              <a:tblGrid>
                <a:gridCol w="548640"/>
                <a:gridCol w="2743200"/>
                <a:gridCol w="2194560"/>
                <a:gridCol w="822960"/>
                <a:gridCol w="2651760"/>
                <a:gridCol w="2468880"/>
              </a:tblGrid>
              <a:tr h="475488">
                <a:tc>
                  <a:txBody>
                    <a:bodyPr/>
                    <a:lstStyle/>
                    <a:p>
                      <a:r>
                        <a:rPr sz="1100" b="1">
                          <a:solidFill>
                            <a:srgbClr val="FFFFFF"/>
                          </a:solidFill>
                        </a:rPr>
                        <a:t>ID</a:t>
                      </a:r>
                    </a:p>
                  </a:txBody>
                  <a:tcPr marL="54864" marR="54864" marT="27432" marB="27432">
                    <a:solidFill>
                      <a:srgbClr val="1F3A5F"/>
                    </a:solidFill>
                  </a:tcPr>
                </a:tc>
                <a:tc>
                  <a:txBody>
                    <a:bodyPr/>
                    <a:lstStyle/>
                    <a:p>
                      <a:r>
                        <a:rPr sz="1100" b="1">
                          <a:solidFill>
                            <a:srgbClr val="FFFFFF"/>
                          </a:solidFill>
                        </a:rPr>
                        <a:t>Action</a:t>
                      </a:r>
                    </a:p>
                  </a:txBody>
                  <a:tcPr marL="54864" marR="54864" marT="27432" marB="27432">
                    <a:solidFill>
                      <a:srgbClr val="1F3A5F"/>
                    </a:solidFill>
                  </a:tcPr>
                </a:tc>
                <a:tc>
                  <a:txBody>
                    <a:bodyPr/>
                    <a:lstStyle/>
                    <a:p>
                      <a:r>
                        <a:rPr sz="1100" b="1">
                          <a:solidFill>
                            <a:srgbClr val="FFFFFF"/>
                          </a:solidFill>
                        </a:rPr>
                        <a:t>Evidence · confidence</a:t>
                      </a:r>
                    </a:p>
                  </a:txBody>
                  <a:tcPr marL="54864" marR="54864" marT="27432" marB="27432">
                    <a:solidFill>
                      <a:srgbClr val="1F3A5F"/>
                    </a:solidFill>
                  </a:tcPr>
                </a:tc>
                <a:tc>
                  <a:txBody>
                    <a:bodyPr/>
                    <a:lstStyle/>
                    <a:p>
                      <a:r>
                        <a:rPr sz="1100" b="1">
                          <a:solidFill>
                            <a:srgbClr val="FFFFFF"/>
                          </a:solidFill>
                        </a:rPr>
                        <a:t>Effort</a:t>
                      </a:r>
                    </a:p>
                  </a:txBody>
                  <a:tcPr marL="54864" marR="54864" marT="27432" marB="27432">
                    <a:solidFill>
                      <a:srgbClr val="1F3A5F"/>
                    </a:solidFill>
                  </a:tcPr>
                </a:tc>
                <a:tc>
                  <a:txBody>
                    <a:bodyPr/>
                    <a:lstStyle/>
                    <a:p>
                      <a:r>
                        <a:rPr sz="1100" b="1">
                          <a:solidFill>
                            <a:srgbClr val="FFFFFF"/>
                          </a:solidFill>
                        </a:rPr>
                        <a:t>Owner (role)</a:t>
                      </a:r>
                    </a:p>
                  </a:txBody>
                  <a:tcPr marL="54864" marR="54864" marT="27432" marB="27432">
                    <a:solidFill>
                      <a:srgbClr val="1F3A5F"/>
                    </a:solidFill>
                  </a:tcPr>
                </a:tc>
                <a:tc>
                  <a:txBody>
                    <a:bodyPr/>
                    <a:lstStyle/>
                    <a:p>
                      <a:r>
                        <a:rPr sz="1100" b="1">
                          <a:solidFill>
                            <a:srgbClr val="FFFFFF"/>
                          </a:solidFill>
                        </a:rPr>
                        <a:t>KPI</a:t>
                      </a:r>
                    </a:p>
                  </a:txBody>
                  <a:tcPr marL="54864" marR="54864" marT="27432" marB="27432">
                    <a:solidFill>
                      <a:srgbClr val="1F3A5F"/>
                    </a:solidFill>
                  </a:tcPr>
                </a:tc>
              </a:tr>
              <a:tr h="475488">
                <a:tc>
                  <a:txBody>
                    <a:bodyPr/>
                    <a:lstStyle/>
                    <a:p>
                      <a:r>
                        <a:rPr sz="1100" b="0">
                          <a:solidFill>
                            <a:srgbClr val="222222"/>
                          </a:solidFill>
                        </a:rPr>
                        <a:t>R01</a:t>
                      </a:r>
                    </a:p>
                  </a:txBody>
                  <a:tcPr marL="54864" marR="54864" marT="27432" marB="27432">
                    <a:solidFill>
                      <a:srgbClr val="FFFFFF"/>
                    </a:solidFill>
                  </a:tcPr>
                </a:tc>
                <a:tc>
                  <a:txBody>
                    <a:bodyPr/>
                    <a:lstStyle/>
                    <a:p>
                      <a:r>
                        <a:rPr sz="1100" b="0">
                          <a:solidFill>
                            <a:srgbClr val="222222"/>
                          </a:solidFill>
                        </a:rPr>
                        <a:t>Fix Menopause/PCOS/PMDD pages</a:t>
                      </a:r>
                    </a:p>
                  </a:txBody>
                  <a:tcPr marL="54864" marR="54864" marT="27432" marB="27432">
                    <a:solidFill>
                      <a:srgbClr val="FFFFFF"/>
                    </a:solidFill>
                  </a:tcPr>
                </a:tc>
                <a:tc>
                  <a:txBody>
                    <a:bodyPr/>
                    <a:lstStyle/>
                    <a:p>
                      <a:r>
                        <a:rPr sz="1100" b="0">
                          <a:solidFill>
                            <a:srgbClr val="222222"/>
                          </a:solidFill>
                        </a:rPr>
                        <a:t>Live re-check · High</a:t>
                      </a:r>
                    </a:p>
                  </a:txBody>
                  <a:tcPr marL="54864" marR="54864" marT="27432" marB="27432">
                    <a:solidFill>
                      <a:srgbClr val="FFFFFF"/>
                    </a:solidFill>
                  </a:tcPr>
                </a:tc>
                <a:tc>
                  <a:txBody>
                    <a:bodyPr/>
                    <a:lstStyle/>
                    <a:p>
                      <a:r>
                        <a:rPr sz="1100" b="0">
                          <a:solidFill>
                            <a:srgbClr val="222222"/>
                          </a:solidFill>
                        </a:rPr>
                        <a:t>Small</a:t>
                      </a:r>
                    </a:p>
                  </a:txBody>
                  <a:tcPr marL="54864" marR="54864" marT="27432" marB="27432">
                    <a:solidFill>
                      <a:srgbClr val="FFFFFF"/>
                    </a:solidFill>
                  </a:tcPr>
                </a:tc>
                <a:tc>
                  <a:txBody>
                    <a:bodyPr/>
                    <a:lstStyle/>
                    <a:p>
                      <a:r>
                        <a:rPr sz="1100" b="0">
                          <a:solidFill>
                            <a:srgbClr val="222222"/>
                          </a:solidFill>
                        </a:rPr>
                        <a:t>Marketing + women's-health doctor</a:t>
                      </a:r>
                    </a:p>
                  </a:txBody>
                  <a:tcPr marL="54864" marR="54864" marT="27432" marB="27432">
                    <a:solidFill>
                      <a:srgbClr val="FFFFFF"/>
                    </a:solidFill>
                  </a:tcPr>
                </a:tc>
                <a:tc>
                  <a:txBody>
                    <a:bodyPr/>
                    <a:lstStyle/>
                    <a:p>
                      <a:r>
                        <a:rPr sz="1100" b="0">
                          <a:solidFill>
                            <a:srgbClr val="222222"/>
                          </a:solidFill>
                        </a:rPr>
                        <a:t>3/3 fixed; booking clicks</a:t>
                      </a:r>
                    </a:p>
                  </a:txBody>
                  <a:tcPr marL="54864" marR="54864" marT="27432" marB="27432">
                    <a:solidFill>
                      <a:srgbClr val="FFFFFF"/>
                    </a:solidFill>
                  </a:tcPr>
                </a:tc>
              </a:tr>
              <a:tr h="475488">
                <a:tc>
                  <a:txBody>
                    <a:bodyPr/>
                    <a:lstStyle/>
                    <a:p>
                      <a:r>
                        <a:rPr sz="1100" b="0">
                          <a:solidFill>
                            <a:srgbClr val="222222"/>
                          </a:solidFill>
                        </a:rPr>
                        <a:t>R02</a:t>
                      </a:r>
                    </a:p>
                  </a:txBody>
                  <a:tcPr marL="54864" marR="54864" marT="27432" marB="27432">
                    <a:solidFill>
                      <a:srgbClr val="EDF2F4"/>
                    </a:solidFill>
                  </a:tcPr>
                </a:tc>
                <a:tc>
                  <a:txBody>
                    <a:bodyPr/>
                    <a:lstStyle/>
                    <a:p>
                      <a:r>
                        <a:rPr sz="1100" b="0">
                          <a:solidFill>
                            <a:srgbClr val="222222"/>
                          </a:solidFill>
                        </a:rPr>
                        <a:t>Repair menu and internal links</a:t>
                      </a:r>
                    </a:p>
                  </a:txBody>
                  <a:tcPr marL="54864" marR="54864" marT="27432" marB="27432">
                    <a:solidFill>
                      <a:srgbClr val="EDF2F4"/>
                    </a:solidFill>
                  </a:tcPr>
                </a:tc>
                <a:tc>
                  <a:txBody>
                    <a:bodyPr/>
                    <a:lstStyle/>
                    <a:p>
                      <a:r>
                        <a:rPr sz="1100" b="0">
                          <a:solidFill>
                            <a:srgbClr val="222222"/>
                          </a:solidFill>
                        </a:rPr>
                        <a:t>Broken-links CSV · High</a:t>
                      </a:r>
                    </a:p>
                  </a:txBody>
                  <a:tcPr marL="54864" marR="54864" marT="27432" marB="27432">
                    <a:solidFill>
                      <a:srgbClr val="EDF2F4"/>
                    </a:solidFill>
                  </a:tcPr>
                </a:tc>
                <a:tc>
                  <a:txBody>
                    <a:bodyPr/>
                    <a:lstStyle/>
                    <a:p>
                      <a:r>
                        <a:rPr sz="1100" b="0">
                          <a:solidFill>
                            <a:srgbClr val="222222"/>
                          </a:solidFill>
                        </a:rPr>
                        <a:t>Small</a:t>
                      </a:r>
                    </a:p>
                  </a:txBody>
                  <a:tcPr marL="54864" marR="54864" marT="27432" marB="27432">
                    <a:solidFill>
                      <a:srgbClr val="EDF2F4"/>
                    </a:solidFill>
                  </a:tcPr>
                </a:tc>
                <a:tc>
                  <a:txBody>
                    <a:bodyPr/>
                    <a:lstStyle/>
                    <a:p>
                      <a:r>
                        <a:rPr sz="1100" b="0">
                          <a:solidFill>
                            <a:srgbClr val="222222"/>
                          </a:solidFill>
                        </a:rPr>
                        <a:t>Web developer</a:t>
                      </a:r>
                    </a:p>
                  </a:txBody>
                  <a:tcPr marL="54864" marR="54864" marT="27432" marB="27432">
                    <a:solidFill>
                      <a:srgbClr val="EDF2F4"/>
                    </a:solidFill>
                  </a:tcPr>
                </a:tc>
                <a:tc>
                  <a:txBody>
                    <a:bodyPr/>
                    <a:lstStyle/>
                    <a:p>
                      <a:r>
                        <a:rPr sz="1100" b="0">
                          <a:solidFill>
                            <a:srgbClr val="222222"/>
                          </a:solidFill>
                        </a:rPr>
                        <a:t>0 internal 404s</a:t>
                      </a:r>
                    </a:p>
                  </a:txBody>
                  <a:tcPr marL="54864" marR="54864" marT="27432" marB="27432">
                    <a:solidFill>
                      <a:srgbClr val="EDF2F4"/>
                    </a:solidFill>
                  </a:tcPr>
                </a:tc>
              </a:tr>
              <a:tr h="475488">
                <a:tc>
                  <a:txBody>
                    <a:bodyPr/>
                    <a:lstStyle/>
                    <a:p>
                      <a:r>
                        <a:rPr sz="1100" b="0">
                          <a:solidFill>
                            <a:srgbClr val="222222"/>
                          </a:solidFill>
                        </a:rPr>
                        <a:t>R03</a:t>
                      </a:r>
                    </a:p>
                  </a:txBody>
                  <a:tcPr marL="54864" marR="54864" marT="27432" marB="27432">
                    <a:solidFill>
                      <a:srgbClr val="FFFFFF"/>
                    </a:solidFill>
                  </a:tcPr>
                </a:tc>
                <a:tc>
                  <a:txBody>
                    <a:bodyPr/>
                    <a:lstStyle/>
                    <a:p>
                      <a:r>
                        <a:rPr sz="1100" b="0">
                          <a:solidFill>
                            <a:srgbClr val="222222"/>
                          </a:solidFill>
                        </a:rPr>
                        <a:t>Decide programme tier; redirect</a:t>
                      </a:r>
                    </a:p>
                  </a:txBody>
                  <a:tcPr marL="54864" marR="54864" marT="27432" marB="27432">
                    <a:solidFill>
                      <a:srgbClr val="FFFFFF"/>
                    </a:solidFill>
                  </a:tcPr>
                </a:tc>
                <a:tc>
                  <a:txBody>
                    <a:bodyPr/>
                    <a:lstStyle/>
                    <a:p>
                      <a:r>
                        <a:rPr sz="1100" b="0">
                          <a:solidFill>
                            <a:srgbClr val="222222"/>
                          </a:solidFill>
                        </a:rPr>
                        <a:t>Crawl · High</a:t>
                      </a:r>
                    </a:p>
                  </a:txBody>
                  <a:tcPr marL="54864" marR="54864" marT="27432" marB="27432">
                    <a:solidFill>
                      <a:srgbClr val="FFFFFF"/>
                    </a:solidFill>
                  </a:tcPr>
                </a:tc>
                <a:tc>
                  <a:txBody>
                    <a:bodyPr/>
                    <a:lstStyle/>
                    <a:p>
                      <a:r>
                        <a:rPr sz="1100" b="0">
                          <a:solidFill>
                            <a:srgbClr val="222222"/>
                          </a:solidFill>
                        </a:rPr>
                        <a:t>Medium</a:t>
                      </a:r>
                    </a:p>
                  </a:txBody>
                  <a:tcPr marL="54864" marR="54864" marT="27432" marB="27432">
                    <a:solidFill>
                      <a:srgbClr val="FFFFFF"/>
                    </a:solidFill>
                  </a:tcPr>
                </a:tc>
                <a:tc>
                  <a:txBody>
                    <a:bodyPr/>
                    <a:lstStyle/>
                    <a:p>
                      <a:r>
                        <a:rPr sz="1100" b="0">
                          <a:solidFill>
                            <a:srgbClr val="222222"/>
                          </a:solidFill>
                        </a:rPr>
                        <a:t>CEO + Medical Director</a:t>
                      </a:r>
                    </a:p>
                  </a:txBody>
                  <a:tcPr marL="54864" marR="54864" marT="27432" marB="27432">
                    <a:solidFill>
                      <a:srgbClr val="FFFFFF"/>
                    </a:solidFill>
                  </a:tcPr>
                </a:tc>
                <a:tc>
                  <a:txBody>
                    <a:bodyPr/>
                    <a:lstStyle/>
                    <a:p>
                      <a:r>
                        <a:rPr sz="1100" b="0">
                          <a:solidFill>
                            <a:srgbClr val="222222"/>
                          </a:solidFill>
                        </a:rPr>
                        <a:t>Decision; 0 retired 404s</a:t>
                      </a:r>
                    </a:p>
                  </a:txBody>
                  <a:tcPr marL="54864" marR="54864" marT="27432" marB="27432">
                    <a:solidFill>
                      <a:srgbClr val="FFFFFF"/>
                    </a:solidFill>
                  </a:tcPr>
                </a:tc>
              </a:tr>
              <a:tr h="475488">
                <a:tc>
                  <a:txBody>
                    <a:bodyPr/>
                    <a:lstStyle/>
                    <a:p>
                      <a:r>
                        <a:rPr sz="1100" b="0">
                          <a:solidFill>
                            <a:srgbClr val="222222"/>
                          </a:solidFill>
                        </a:rPr>
                        <a:t>R04</a:t>
                      </a:r>
                    </a:p>
                  </a:txBody>
                  <a:tcPr marL="54864" marR="54864" marT="27432" marB="27432">
                    <a:solidFill>
                      <a:srgbClr val="EDF2F4"/>
                    </a:solidFill>
                  </a:tcPr>
                </a:tc>
                <a:tc>
                  <a:txBody>
                    <a:bodyPr/>
                    <a:lstStyle/>
                    <a:p>
                      <a:r>
                        <a:rPr sz="1100" b="0">
                          <a:solidFill>
                            <a:srgbClr val="222222"/>
                          </a:solidFill>
                        </a:rPr>
                        <a:t>CAP-code claims review</a:t>
                      </a:r>
                    </a:p>
                  </a:txBody>
                  <a:tcPr marL="54864" marR="54864" marT="27432" marB="27432">
                    <a:solidFill>
                      <a:srgbClr val="EDF2F4"/>
                    </a:solidFill>
                  </a:tcPr>
                </a:tc>
                <a:tc>
                  <a:txBody>
                    <a:bodyPr/>
                    <a:lstStyle/>
                    <a:p>
                      <a:r>
                        <a:rPr sz="1100" b="0">
                          <a:solidFill>
                            <a:srgbClr val="222222"/>
                          </a:solidFill>
                        </a:rPr>
                        <a:t>Crawl + ASA · High</a:t>
                      </a:r>
                    </a:p>
                  </a:txBody>
                  <a:tcPr marL="54864" marR="54864" marT="27432" marB="27432">
                    <a:solidFill>
                      <a:srgbClr val="EDF2F4"/>
                    </a:solidFill>
                  </a:tcPr>
                </a:tc>
                <a:tc>
                  <a:txBody>
                    <a:bodyPr/>
                    <a:lstStyle/>
                    <a:p>
                      <a:r>
                        <a:rPr sz="1100" b="0">
                          <a:solidFill>
                            <a:srgbClr val="222222"/>
                          </a:solidFill>
                        </a:rPr>
                        <a:t>Medium</a:t>
                      </a:r>
                    </a:p>
                  </a:txBody>
                  <a:tcPr marL="54864" marR="54864" marT="27432" marB="27432">
                    <a:solidFill>
                      <a:srgbClr val="EDF2F4"/>
                    </a:solidFill>
                  </a:tcPr>
                </a:tc>
                <a:tc>
                  <a:txBody>
                    <a:bodyPr/>
                    <a:lstStyle/>
                    <a:p>
                      <a:r>
                        <a:rPr sz="1100" b="0">
                          <a:solidFill>
                            <a:srgbClr val="222222"/>
                          </a:solidFill>
                        </a:rPr>
                        <a:t>CEO + adviser</a:t>
                      </a:r>
                    </a:p>
                  </a:txBody>
                  <a:tcPr marL="54864" marR="54864" marT="27432" marB="27432">
                    <a:solidFill>
                      <a:srgbClr val="EDF2F4"/>
                    </a:solidFill>
                  </a:tcPr>
                </a:tc>
                <a:tc>
                  <a:txBody>
                    <a:bodyPr/>
                    <a:lstStyle/>
                    <a:p>
                      <a:r>
                        <a:rPr sz="1100" b="0">
                          <a:solidFill>
                            <a:srgbClr val="222222"/>
                          </a:solidFill>
                        </a:rPr>
                        <a:t>100% items resolved</a:t>
                      </a:r>
                    </a:p>
                  </a:txBody>
                  <a:tcPr marL="54864" marR="54864" marT="27432" marB="27432">
                    <a:solidFill>
                      <a:srgbClr val="EDF2F4"/>
                    </a:solidFill>
                  </a:tcPr>
                </a:tc>
              </a:tr>
              <a:tr h="475488">
                <a:tc>
                  <a:txBody>
                    <a:bodyPr/>
                    <a:lstStyle/>
                    <a:p>
                      <a:r>
                        <a:rPr sz="1100" b="0">
                          <a:solidFill>
                            <a:srgbClr val="222222"/>
                          </a:solidFill>
                        </a:rPr>
                        <a:t>R05</a:t>
                      </a:r>
                    </a:p>
                  </a:txBody>
                  <a:tcPr marL="54864" marR="54864" marT="27432" marB="27432">
                    <a:solidFill>
                      <a:srgbClr val="FFFFFF"/>
                    </a:solidFill>
                  </a:tcPr>
                </a:tc>
                <a:tc>
                  <a:txBody>
                    <a:bodyPr/>
                    <a:lstStyle/>
                    <a:p>
                      <a:r>
                        <a:rPr sz="1100" b="0">
                          <a:solidFill>
                            <a:srgbClr val="222222"/>
                          </a:solidFill>
                        </a:rPr>
                        <a:t>Verify CQC; link badge; status line</a:t>
                      </a:r>
                    </a:p>
                  </a:txBody>
                  <a:tcPr marL="54864" marR="54864" marT="27432" marB="27432">
                    <a:solidFill>
                      <a:srgbClr val="FFFFFF"/>
                    </a:solidFill>
                  </a:tcPr>
                </a:tc>
                <a:tc>
                  <a:txBody>
                    <a:bodyPr/>
                    <a:lstStyle/>
                    <a:p>
                      <a:r>
                        <a:rPr sz="1100" b="0">
                          <a:solidFill>
                            <a:srgbClr val="222222"/>
                          </a:solidFill>
                        </a:rPr>
                        <a:t>Crawl · High; status ?</a:t>
                      </a:r>
                    </a:p>
                  </a:txBody>
                  <a:tcPr marL="54864" marR="54864" marT="27432" marB="27432">
                    <a:solidFill>
                      <a:srgbClr val="FFFFFF"/>
                    </a:solidFill>
                  </a:tcPr>
                </a:tc>
                <a:tc>
                  <a:txBody>
                    <a:bodyPr/>
                    <a:lstStyle/>
                    <a:p>
                      <a:r>
                        <a:rPr sz="1100" b="0">
                          <a:solidFill>
                            <a:srgbClr val="222222"/>
                          </a:solidFill>
                        </a:rPr>
                        <a:t>Small</a:t>
                      </a:r>
                    </a:p>
                  </a:txBody>
                  <a:tcPr marL="54864" marR="54864" marT="27432" marB="27432">
                    <a:solidFill>
                      <a:srgbClr val="FFFFFF"/>
                    </a:solidFill>
                  </a:tcPr>
                </a:tc>
                <a:tc>
                  <a:txBody>
                    <a:bodyPr/>
                    <a:lstStyle/>
                    <a:p>
                      <a:r>
                        <a:rPr sz="1100" b="0">
                          <a:solidFill>
                            <a:srgbClr val="222222"/>
                          </a:solidFill>
                        </a:rPr>
                        <a:t>Registered manager</a:t>
                      </a:r>
                    </a:p>
                  </a:txBody>
                  <a:tcPr marL="54864" marR="54864" marT="27432" marB="27432">
                    <a:solidFill>
                      <a:srgbClr val="FFFFFF"/>
                    </a:solidFill>
                  </a:tcPr>
                </a:tc>
                <a:tc>
                  <a:txBody>
                    <a:bodyPr/>
                    <a:lstStyle/>
                    <a:p>
                      <a:r>
                        <a:rPr sz="1100" b="0">
                          <a:solidFill>
                            <a:srgbClr val="222222"/>
                          </a:solidFill>
                        </a:rPr>
                        <a:t>100% linked; signed off</a:t>
                      </a:r>
                    </a:p>
                  </a:txBody>
                  <a:tcPr marL="54864" marR="54864" marT="27432" marB="27432">
                    <a:solidFill>
                      <a:srgbClr val="FFFFFF"/>
                    </a:solidFill>
                  </a:tcPr>
                </a:tc>
              </a:tr>
              <a:tr h="475488">
                <a:tc>
                  <a:txBody>
                    <a:bodyPr/>
                    <a:lstStyle/>
                    <a:p>
                      <a:r>
                        <a:rPr sz="1100" b="0">
                          <a:solidFill>
                            <a:srgbClr val="222222"/>
                          </a:solidFill>
                        </a:rPr>
                        <a:t>R06</a:t>
                      </a:r>
                    </a:p>
                  </a:txBody>
                  <a:tcPr marL="54864" marR="54864" marT="27432" marB="27432">
                    <a:solidFill>
                      <a:srgbClr val="EDF2F4"/>
                    </a:solidFill>
                  </a:tcPr>
                </a:tc>
                <a:tc>
                  <a:txBody>
                    <a:bodyPr/>
                    <a:lstStyle/>
                    <a:p>
                      <a:r>
                        <a:rPr sz="1100" b="0">
                          <a:solidFill>
                            <a:srgbClr val="222222"/>
                          </a:solidFill>
                        </a:rPr>
                        <a:t>One number; tap-to-call; mobile bar</a:t>
                      </a:r>
                    </a:p>
                  </a:txBody>
                  <a:tcPr marL="54864" marR="54864" marT="27432" marB="27432">
                    <a:solidFill>
                      <a:srgbClr val="EDF2F4"/>
                    </a:solidFill>
                  </a:tcPr>
                </a:tc>
                <a:tc>
                  <a:txBody>
                    <a:bodyPr/>
                    <a:lstStyle/>
                    <a:p>
                      <a:r>
                        <a:rPr sz="1100" b="0">
                          <a:solidFill>
                            <a:srgbClr val="222222"/>
                          </a:solidFill>
                        </a:rPr>
                        <a:t>Crawl · High</a:t>
                      </a:r>
                    </a:p>
                  </a:txBody>
                  <a:tcPr marL="54864" marR="54864" marT="27432" marB="27432">
                    <a:solidFill>
                      <a:srgbClr val="EDF2F4"/>
                    </a:solidFill>
                  </a:tcPr>
                </a:tc>
                <a:tc>
                  <a:txBody>
                    <a:bodyPr/>
                    <a:lstStyle/>
                    <a:p>
                      <a:r>
                        <a:rPr sz="1100" b="0">
                          <a:solidFill>
                            <a:srgbClr val="222222"/>
                          </a:solidFill>
                        </a:rPr>
                        <a:t>Small</a:t>
                      </a:r>
                    </a:p>
                  </a:txBody>
                  <a:tcPr marL="54864" marR="54864" marT="27432" marB="27432">
                    <a:solidFill>
                      <a:srgbClr val="EDF2F4"/>
                    </a:solidFill>
                  </a:tcPr>
                </a:tc>
                <a:tc>
                  <a:txBody>
                    <a:bodyPr/>
                    <a:lstStyle/>
                    <a:p>
                      <a:r>
                        <a:rPr sz="1100" b="0">
                          <a:solidFill>
                            <a:srgbClr val="222222"/>
                          </a:solidFill>
                        </a:rPr>
                        <a:t>Developer + Ops</a:t>
                      </a:r>
                    </a:p>
                  </a:txBody>
                  <a:tcPr marL="54864" marR="54864" marT="27432" marB="27432">
                    <a:solidFill>
                      <a:srgbClr val="EDF2F4"/>
                    </a:solidFill>
                  </a:tcPr>
                </a:tc>
                <a:tc>
                  <a:txBody>
                    <a:bodyPr/>
                    <a:lstStyle/>
                    <a:p>
                      <a:r>
                        <a:rPr sz="1100" b="0">
                          <a:solidFill>
                            <a:srgbClr val="222222"/>
                          </a:solidFill>
                        </a:rPr>
                        <a:t>tel: 100%; call clicks</a:t>
                      </a:r>
                    </a:p>
                  </a:txBody>
                  <a:tcPr marL="54864" marR="54864" marT="27432" marB="27432">
                    <a:solidFill>
                      <a:srgbClr val="EDF2F4"/>
                    </a:solidFill>
                  </a:tcPr>
                </a:tc>
              </a:tr>
              <a:tr h="475488">
                <a:tc>
                  <a:txBody>
                    <a:bodyPr/>
                    <a:lstStyle/>
                    <a:p>
                      <a:r>
                        <a:rPr sz="1100" b="0">
                          <a:solidFill>
                            <a:srgbClr val="222222"/>
                          </a:solidFill>
                        </a:rPr>
                        <a:t>R07</a:t>
                      </a:r>
                    </a:p>
                  </a:txBody>
                  <a:tcPr marL="54864" marR="54864" marT="27432" marB="27432">
                    <a:solidFill>
                      <a:srgbClr val="FFFFFF"/>
                    </a:solidFill>
                  </a:tcPr>
                </a:tc>
                <a:tc>
                  <a:txBody>
                    <a:bodyPr/>
                    <a:lstStyle/>
                    <a:p>
                      <a:r>
                        <a:rPr sz="1100" b="0">
                          <a:solidFill>
                            <a:srgbClr val="222222"/>
                          </a:solidFill>
                        </a:rPr>
                        <a:t>Analytics + funnel baseline</a:t>
                      </a:r>
                    </a:p>
                  </a:txBody>
                  <a:tcPr marL="54864" marR="54864" marT="27432" marB="27432">
                    <a:solidFill>
                      <a:srgbClr val="FFFFFF"/>
                    </a:solidFill>
                  </a:tcPr>
                </a:tc>
                <a:tc>
                  <a:txBody>
                    <a:bodyPr/>
                    <a:lstStyle/>
                    <a:p>
                      <a:r>
                        <a:rPr sz="1100" b="0">
                          <a:solidFill>
                            <a:srgbClr val="222222"/>
                          </a:solidFill>
                        </a:rPr>
                        <a:t>Study gap · High</a:t>
                      </a:r>
                    </a:p>
                  </a:txBody>
                  <a:tcPr marL="54864" marR="54864" marT="27432" marB="27432">
                    <a:solidFill>
                      <a:srgbClr val="FFFFFF"/>
                    </a:solidFill>
                  </a:tcPr>
                </a:tc>
                <a:tc>
                  <a:txBody>
                    <a:bodyPr/>
                    <a:lstStyle/>
                    <a:p>
                      <a:r>
                        <a:rPr sz="1100" b="0">
                          <a:solidFill>
                            <a:srgbClr val="222222"/>
                          </a:solidFill>
                        </a:rPr>
                        <a:t>Medium</a:t>
                      </a:r>
                    </a:p>
                  </a:txBody>
                  <a:tcPr marL="54864" marR="54864" marT="27432" marB="27432">
                    <a:solidFill>
                      <a:srgbClr val="FFFFFF"/>
                    </a:solidFill>
                  </a:tcPr>
                </a:tc>
                <a:tc>
                  <a:txBody>
                    <a:bodyPr/>
                    <a:lstStyle/>
                    <a:p>
                      <a:r>
                        <a:rPr sz="1100" b="0">
                          <a:solidFill>
                            <a:srgbClr val="222222"/>
                          </a:solidFill>
                        </a:rPr>
                        <a:t>Marketing + agency</a:t>
                      </a:r>
                    </a:p>
                  </a:txBody>
                  <a:tcPr marL="54864" marR="54864" marT="27432" marB="27432">
                    <a:solidFill>
                      <a:srgbClr val="FFFFFF"/>
                    </a:solidFill>
                  </a:tcPr>
                </a:tc>
                <a:tc>
                  <a:txBody>
                    <a:bodyPr/>
                    <a:lstStyle/>
                    <a:p>
                      <a:r>
                        <a:rPr sz="1100" b="0">
                          <a:solidFill>
                            <a:srgbClr val="222222"/>
                          </a:solidFill>
                        </a:rPr>
                        <a:t>Baseline captured</a:t>
                      </a:r>
                    </a:p>
                  </a:txBody>
                  <a:tcPr marL="54864" marR="54864" marT="27432" marB="27432">
                    <a:solidFill>
                      <a:srgbClr val="FFFFFF"/>
                    </a:solidFill>
                  </a:tcPr>
                </a:tc>
              </a:tr>
              <a:tr h="475488">
                <a:tc>
                  <a:txBody>
                    <a:bodyPr/>
                    <a:lstStyle/>
                    <a:p>
                      <a:r>
                        <a:rPr sz="1100" b="0">
                          <a:solidFill>
                            <a:srgbClr val="222222"/>
                          </a:solidFill>
                        </a:rPr>
                        <a:t>R08</a:t>
                      </a:r>
                    </a:p>
                  </a:txBody>
                  <a:tcPr marL="54864" marR="54864" marT="27432" marB="27432">
                    <a:solidFill>
                      <a:srgbClr val="EDF2F4"/>
                    </a:solidFill>
                  </a:tcPr>
                </a:tc>
                <a:tc>
                  <a:txBody>
                    <a:bodyPr/>
                    <a:lstStyle/>
                    <a:p>
                      <a:r>
                        <a:rPr sz="1100" b="0">
                          <a:solidFill>
                            <a:srgbClr val="222222"/>
                          </a:solidFill>
                        </a:rPr>
                        <a:t>Fees and credits table</a:t>
                      </a:r>
                    </a:p>
                  </a:txBody>
                  <a:tcPr marL="54864" marR="54864" marT="27432" marB="27432">
                    <a:solidFill>
                      <a:srgbClr val="EDF2F4"/>
                    </a:solidFill>
                  </a:tcPr>
                </a:tc>
                <a:tc>
                  <a:txBody>
                    <a:bodyPr/>
                    <a:lstStyle/>
                    <a:p>
                      <a:r>
                        <a:rPr sz="1100" b="0">
                          <a:solidFill>
                            <a:srgbClr val="222222"/>
                          </a:solidFill>
                        </a:rPr>
                        <a:t>Re-check · High</a:t>
                      </a:r>
                    </a:p>
                  </a:txBody>
                  <a:tcPr marL="54864" marR="54864" marT="27432" marB="27432">
                    <a:solidFill>
                      <a:srgbClr val="EDF2F4"/>
                    </a:solidFill>
                  </a:tcPr>
                </a:tc>
                <a:tc>
                  <a:txBody>
                    <a:bodyPr/>
                    <a:lstStyle/>
                    <a:p>
                      <a:r>
                        <a:rPr sz="1100" b="0">
                          <a:solidFill>
                            <a:srgbClr val="222222"/>
                          </a:solidFill>
                        </a:rPr>
                        <a:t>Small</a:t>
                      </a:r>
                    </a:p>
                  </a:txBody>
                  <a:tcPr marL="54864" marR="54864" marT="27432" marB="27432">
                    <a:solidFill>
                      <a:srgbClr val="EDF2F4"/>
                    </a:solidFill>
                  </a:tcPr>
                </a:tc>
                <a:tc>
                  <a:txBody>
                    <a:bodyPr/>
                    <a:lstStyle/>
                    <a:p>
                      <a:r>
                        <a:rPr sz="1100" b="0">
                          <a:solidFill>
                            <a:srgbClr val="222222"/>
                          </a:solidFill>
                        </a:rPr>
                        <a:t>CEO + Finance</a:t>
                      </a:r>
                    </a:p>
                  </a:txBody>
                  <a:tcPr marL="54864" marR="54864" marT="27432" marB="27432">
                    <a:solidFill>
                      <a:srgbClr val="EDF2F4"/>
                    </a:solidFill>
                  </a:tcPr>
                </a:tc>
                <a:tc>
                  <a:txBody>
                    <a:bodyPr/>
                    <a:lstStyle/>
                    <a:p>
                      <a:r>
                        <a:rPr sz="1100" b="0">
                          <a:solidFill>
                            <a:srgbClr val="222222"/>
                          </a:solidFill>
                        </a:rPr>
                        <a:t>Credit queries ↓</a:t>
                      </a:r>
                    </a:p>
                  </a:txBody>
                  <a:tcPr marL="54864" marR="54864" marT="27432" marB="27432">
                    <a:solidFill>
                      <a:srgbClr val="EDF2F4"/>
                    </a:solidFill>
                  </a:tcPr>
                </a:tc>
              </a:tr>
              <a:tr h="475488">
                <a:tc>
                  <a:txBody>
                    <a:bodyPr/>
                    <a:lstStyle/>
                    <a:p>
                      <a:r>
                        <a:rPr sz="1100" b="0">
                          <a:solidFill>
                            <a:srgbClr val="222222"/>
                          </a:solidFill>
                        </a:rPr>
                        <a:t>R10</a:t>
                      </a:r>
                    </a:p>
                  </a:txBody>
                  <a:tcPr marL="54864" marR="54864" marT="27432" marB="27432">
                    <a:solidFill>
                      <a:srgbClr val="FFFFFF"/>
                    </a:solidFill>
                  </a:tcPr>
                </a:tc>
                <a:tc>
                  <a:txBody>
                    <a:bodyPr/>
                    <a:lstStyle/>
                    <a:p>
                      <a:r>
                        <a:rPr sz="1100" b="0">
                          <a:solidFill>
                            <a:srgbClr val="222222"/>
                          </a:solidFill>
                        </a:rPr>
                        <a:t>Remove price conflicts; sessions</a:t>
                      </a:r>
                    </a:p>
                  </a:txBody>
                  <a:tcPr marL="54864" marR="54864" marT="27432" marB="27432">
                    <a:solidFill>
                      <a:srgbClr val="FFFFFF"/>
                    </a:solidFill>
                  </a:tcPr>
                </a:tc>
                <a:tc>
                  <a:txBody>
                    <a:bodyPr/>
                    <a:lstStyle/>
                    <a:p>
                      <a:r>
                        <a:rPr sz="1100" b="0">
                          <a:solidFill>
                            <a:srgbClr val="222222"/>
                          </a:solidFill>
                        </a:rPr>
                        <a:t>Price register · High</a:t>
                      </a:r>
                    </a:p>
                  </a:txBody>
                  <a:tcPr marL="54864" marR="54864" marT="27432" marB="27432">
                    <a:solidFill>
                      <a:srgbClr val="FFFFFF"/>
                    </a:solidFill>
                  </a:tcPr>
                </a:tc>
                <a:tc>
                  <a:txBody>
                    <a:bodyPr/>
                    <a:lstStyle/>
                    <a:p>
                      <a:r>
                        <a:rPr sz="1100" b="0">
                          <a:solidFill>
                            <a:srgbClr val="222222"/>
                          </a:solidFill>
                        </a:rPr>
                        <a:t>Small</a:t>
                      </a:r>
                    </a:p>
                  </a:txBody>
                  <a:tcPr marL="54864" marR="54864" marT="27432" marB="27432">
                    <a:solidFill>
                      <a:srgbClr val="FFFFFF"/>
                    </a:solidFill>
                  </a:tcPr>
                </a:tc>
                <a:tc>
                  <a:txBody>
                    <a:bodyPr/>
                    <a:lstStyle/>
                    <a:p>
                      <a:r>
                        <a:rPr sz="1100" b="0">
                          <a:solidFill>
                            <a:srgbClr val="222222"/>
                          </a:solidFill>
                        </a:rPr>
                        <a:t>Marketing + Ops</a:t>
                      </a:r>
                    </a:p>
                  </a:txBody>
                  <a:tcPr marL="54864" marR="54864" marT="27432" marB="27432">
                    <a:solidFill>
                      <a:srgbClr val="FFFFFF"/>
                    </a:solidFill>
                  </a:tcPr>
                </a:tc>
                <a:tc>
                  <a:txBody>
                    <a:bodyPr/>
                    <a:lstStyle/>
                    <a:p>
                      <a:r>
                        <a:rPr sz="1100" b="0">
                          <a:solidFill>
                            <a:srgbClr val="222222"/>
                          </a:solidFill>
                        </a:rPr>
                        <a:t>0 conflicts</a:t>
                      </a:r>
                    </a:p>
                  </a:txBody>
                  <a:tcPr marL="54864" marR="54864" marT="27432" marB="27432">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30 / 60 / 90-day roadmap</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Fix and measure → prove and price → position and test</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implementation-roadmap.md   |   The HVN strategy review · 15 Oct 2026 · 18</a:t>
            </a:r>
          </a:p>
        </p:txBody>
      </p:sp>
      <p:pic>
        <p:nvPicPr>
          <p:cNvPr id="6" name="Picture 5" descr="roadmap-gantt.png"/>
          <p:cNvPicPr>
            <a:picLocks noChangeAspect="1"/>
          </p:cNvPicPr>
          <p:nvPr/>
        </p:nvPicPr>
        <p:blipFill>
          <a:blip r:embed="rId3"/>
          <a:stretch>
            <a:fillRect/>
          </a:stretch>
        </p:blipFill>
        <p:spPr>
          <a:xfrm>
            <a:off x="365760" y="1600200"/>
            <a:ext cx="7863840" cy="3999234"/>
          </a:xfrm>
          <a:prstGeom prst="rect">
            <a:avLst/>
          </a:prstGeom>
        </p:spPr>
      </p:pic>
      <p:sp>
        <p:nvSpPr>
          <p:cNvPr id="7" name="Rectangle 6"/>
          <p:cNvSpPr/>
          <p:nvPr/>
        </p:nvSpPr>
        <p:spPr>
          <a:xfrm>
            <a:off x="8412480" y="1737360"/>
            <a:ext cx="3383280"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0" y="1737360"/>
            <a:ext cx="82296" cy="4389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1828800"/>
            <a:ext cx="3108960" cy="457200"/>
          </a:xfrm>
          <a:prstGeom prst="rect">
            <a:avLst/>
          </a:prstGeom>
          <a:noFill/>
        </p:spPr>
        <p:txBody>
          <a:bodyPr wrap="square">
            <a:spAutoFit/>
          </a:bodyPr>
          <a:lstStyle/>
          <a:p>
            <a:pPr algn="l">
              <a:spcAft>
                <a:spcPts val="600"/>
              </a:spcAft>
            </a:pPr>
            <a:r>
              <a:rPr sz="1500" b="1">
                <a:solidFill>
                  <a:srgbClr val="1F3A5F"/>
                </a:solidFill>
              </a:rPr>
              <a:t>Checkpoints</a:t>
            </a:r>
          </a:p>
        </p:txBody>
      </p:sp>
      <p:sp>
        <p:nvSpPr>
          <p:cNvPr id="10" name="TextBox 9"/>
          <p:cNvSpPr txBox="1"/>
          <p:nvPr/>
        </p:nvSpPr>
        <p:spPr>
          <a:xfrm>
            <a:off x="8595360" y="2286000"/>
            <a:ext cx="3108960" cy="3749040"/>
          </a:xfrm>
          <a:prstGeom prst="rect">
            <a:avLst/>
          </a:prstGeom>
          <a:noFill/>
        </p:spPr>
        <p:txBody>
          <a:bodyPr wrap="square">
            <a:spAutoFit/>
          </a:bodyPr>
          <a:lstStyle/>
          <a:p>
            <a:pPr algn="l">
              <a:spcAft>
                <a:spcPts val="600"/>
              </a:spcAft>
            </a:pPr>
            <a:r>
              <a:rPr sz="1200" b="0">
                <a:solidFill>
                  <a:srgbClr val="222222"/>
                </a:solidFill>
              </a:rPr>
              <a:t>• Day 30: baseline; 0 internal 404s; women's-health fixed; CQC line accurate</a:t>
            </a:r>
          </a:p>
          <a:p>
            <a:pPr algn="l">
              <a:spcAft>
                <a:spcPts val="600"/>
              </a:spcAft>
            </a:pPr>
            <a:r>
              <a:rPr sz="1200" b="0">
                <a:solidFill>
                  <a:srgbClr val="222222"/>
                </a:solidFill>
              </a:rPr>
              <a:t>• Day 60: who-treats + IV explainer; ranges decided; validation read-out</a:t>
            </a:r>
          </a:p>
          <a:p>
            <a:pPr algn="l">
              <a:spcAft>
                <a:spcPts val="600"/>
              </a:spcAft>
            </a:pPr>
            <a:r>
              <a:rPr sz="1200" b="0">
                <a:solidFill>
                  <a:srgbClr val="222222"/>
                </a:solidFill>
              </a:rPr>
              <a:t>• Day 90: positioning decided on evidence; pathway go/no-go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How we will measure progress</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Baseline first (weeks 1–4), then targets</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customer-journey-map.md §5   |   The HVN strategy review · 15 Oct 2026 · 19</a:t>
            </a:r>
          </a:p>
        </p:txBody>
      </p:sp>
      <p:graphicFrame>
        <p:nvGraphicFramePr>
          <p:cNvPr id="6" name="Table 5"/>
          <p:cNvGraphicFramePr>
            <a:graphicFrameLocks noGrp="1"/>
          </p:cNvGraphicFramePr>
          <p:nvPr/>
        </p:nvGraphicFramePr>
        <p:xfrm>
          <a:off x="457200" y="1737360"/>
          <a:ext cx="11247120" cy="4023360"/>
        </p:xfrm>
        <a:graphic>
          <a:graphicData uri="http://schemas.openxmlformats.org/drawingml/2006/table">
            <a:tbl>
              <a:tblPr firstRow="1" bandRow="1">
                <a:tableStyleId>{5C22544A-7EE6-4342-B048-85BDC9FD1C3A}</a:tableStyleId>
              </a:tblPr>
              <a:tblGrid>
                <a:gridCol w="1828800"/>
                <a:gridCol w="6400800"/>
                <a:gridCol w="3017520"/>
              </a:tblGrid>
              <a:tr h="502920">
                <a:tc>
                  <a:txBody>
                    <a:bodyPr/>
                    <a:lstStyle/>
                    <a:p>
                      <a:r>
                        <a:rPr sz="1200" b="1">
                          <a:solidFill>
                            <a:srgbClr val="FFFFFF"/>
                          </a:solidFill>
                        </a:rPr>
                        <a:t>Stage</a:t>
                      </a:r>
                    </a:p>
                  </a:txBody>
                  <a:tcPr marL="54864" marR="54864" marT="27432" marB="27432">
                    <a:solidFill>
                      <a:srgbClr val="1F3A5F"/>
                    </a:solidFill>
                  </a:tcPr>
                </a:tc>
                <a:tc>
                  <a:txBody>
                    <a:bodyPr/>
                    <a:lstStyle/>
                    <a:p>
                      <a:r>
                        <a:rPr sz="1200" b="1">
                          <a:solidFill>
                            <a:srgbClr val="FFFFFF"/>
                          </a:solidFill>
                        </a:rPr>
                        <a:t>KPI</a:t>
                      </a:r>
                    </a:p>
                  </a:txBody>
                  <a:tcPr marL="54864" marR="54864" marT="27432" marB="27432">
                    <a:solidFill>
                      <a:srgbClr val="1F3A5F"/>
                    </a:solidFill>
                  </a:tcPr>
                </a:tc>
                <a:tc>
                  <a:txBody>
                    <a:bodyPr/>
                    <a:lstStyle/>
                    <a:p>
                      <a:r>
                        <a:rPr sz="1200" b="1">
                          <a:solidFill>
                            <a:srgbClr val="FFFFFF"/>
                          </a:solidFill>
                        </a:rPr>
                        <a:t>Source</a:t>
                      </a:r>
                    </a:p>
                  </a:txBody>
                  <a:tcPr marL="54864" marR="54864" marT="27432" marB="27432">
                    <a:solidFill>
                      <a:srgbClr val="1F3A5F"/>
                    </a:solidFill>
                  </a:tcPr>
                </a:tc>
              </a:tr>
              <a:tr h="502920">
                <a:tc>
                  <a:txBody>
                    <a:bodyPr/>
                    <a:lstStyle/>
                    <a:p>
                      <a:r>
                        <a:rPr sz="1200" b="0">
                          <a:solidFill>
                            <a:srgbClr val="222222"/>
                          </a:solidFill>
                        </a:rPr>
                        <a:t>Discover</a:t>
                      </a:r>
                    </a:p>
                  </a:txBody>
                  <a:tcPr marL="54864" marR="54864" marT="27432" marB="27432">
                    <a:solidFill>
                      <a:srgbClr val="FFFFFF"/>
                    </a:solidFill>
                  </a:tcPr>
                </a:tc>
                <a:tc>
                  <a:txBody>
                    <a:bodyPr/>
                    <a:lstStyle/>
                    <a:p>
                      <a:r>
                        <a:rPr sz="1200" b="0">
                          <a:solidFill>
                            <a:srgbClr val="222222"/>
                          </a:solidFill>
                        </a:rPr>
                        <a:t>Organic clicks to service and concern pages</a:t>
                      </a:r>
                    </a:p>
                  </a:txBody>
                  <a:tcPr marL="54864" marR="54864" marT="27432" marB="27432">
                    <a:solidFill>
                      <a:srgbClr val="FFFFFF"/>
                    </a:solidFill>
                  </a:tcPr>
                </a:tc>
                <a:tc>
                  <a:txBody>
                    <a:bodyPr/>
                    <a:lstStyle/>
                    <a:p>
                      <a:r>
                        <a:rPr sz="1200" b="0">
                          <a:solidFill>
                            <a:srgbClr val="222222"/>
                          </a:solidFill>
                        </a:rPr>
                        <a:t>Search Console</a:t>
                      </a:r>
                    </a:p>
                  </a:txBody>
                  <a:tcPr marL="54864" marR="54864" marT="27432" marB="27432">
                    <a:solidFill>
                      <a:srgbClr val="FFFFFF"/>
                    </a:solidFill>
                  </a:tcPr>
                </a:tc>
              </a:tr>
              <a:tr h="502920">
                <a:tc>
                  <a:txBody>
                    <a:bodyPr/>
                    <a:lstStyle/>
                    <a:p>
                      <a:r>
                        <a:rPr sz="1200" b="0">
                          <a:solidFill>
                            <a:srgbClr val="222222"/>
                          </a:solidFill>
                        </a:rPr>
                        <a:t>Research</a:t>
                      </a:r>
                    </a:p>
                  </a:txBody>
                  <a:tcPr marL="54864" marR="54864" marT="27432" marB="27432">
                    <a:solidFill>
                      <a:srgbClr val="EDF2F4"/>
                    </a:solidFill>
                  </a:tcPr>
                </a:tc>
                <a:tc>
                  <a:txBody>
                    <a:bodyPr/>
                    <a:lstStyle/>
                    <a:p>
                      <a:r>
                        <a:rPr sz="1200" b="0">
                          <a:solidFill>
                            <a:srgbClr val="222222"/>
                          </a:solidFill>
                        </a:rPr>
                        <a:t>404 page views; engaged sessions</a:t>
                      </a:r>
                    </a:p>
                  </a:txBody>
                  <a:tcPr marL="54864" marR="54864" marT="27432" marB="27432">
                    <a:solidFill>
                      <a:srgbClr val="EDF2F4"/>
                    </a:solidFill>
                  </a:tcPr>
                </a:tc>
                <a:tc>
                  <a:txBody>
                    <a:bodyPr/>
                    <a:lstStyle/>
                    <a:p>
                      <a:r>
                        <a:rPr sz="1200" b="0">
                          <a:solidFill>
                            <a:srgbClr val="222222"/>
                          </a:solidFill>
                        </a:rPr>
                        <a:t>GA4</a:t>
                      </a:r>
                    </a:p>
                  </a:txBody>
                  <a:tcPr marL="54864" marR="54864" marT="27432" marB="27432">
                    <a:solidFill>
                      <a:srgbClr val="EDF2F4"/>
                    </a:solidFill>
                  </a:tcPr>
                </a:tc>
              </a:tr>
              <a:tr h="502920">
                <a:tc>
                  <a:txBody>
                    <a:bodyPr/>
                    <a:lstStyle/>
                    <a:p>
                      <a:r>
                        <a:rPr sz="1200" b="0">
                          <a:solidFill>
                            <a:srgbClr val="222222"/>
                          </a:solidFill>
                        </a:rPr>
                        <a:t>Price check</a:t>
                      </a:r>
                    </a:p>
                  </a:txBody>
                  <a:tcPr marL="54864" marR="54864" marT="27432" marB="27432">
                    <a:solidFill>
                      <a:srgbClr val="FFFFFF"/>
                    </a:solidFill>
                  </a:tcPr>
                </a:tc>
                <a:tc>
                  <a:txBody>
                    <a:bodyPr/>
                    <a:lstStyle/>
                    <a:p>
                      <a:r>
                        <a:rPr sz="1200" b="0">
                          <a:solidFill>
                            <a:srgbClr val="222222"/>
                          </a:solidFill>
                        </a:rPr>
                        <a:t>% enquiries tagged price / total / credit</a:t>
                      </a:r>
                    </a:p>
                  </a:txBody>
                  <a:tcPr marL="54864" marR="54864" marT="27432" marB="27432">
                    <a:solidFill>
                      <a:srgbClr val="FFFFFF"/>
                    </a:solidFill>
                  </a:tcPr>
                </a:tc>
                <a:tc>
                  <a:txBody>
                    <a:bodyPr/>
                    <a:lstStyle/>
                    <a:p>
                      <a:r>
                        <a:rPr sz="1200" b="0">
                          <a:solidFill>
                            <a:srgbClr val="222222"/>
                          </a:solidFill>
                        </a:rPr>
                        <a:t>Enquiry log</a:t>
                      </a:r>
                    </a:p>
                  </a:txBody>
                  <a:tcPr marL="54864" marR="54864" marT="27432" marB="27432">
                    <a:solidFill>
                      <a:srgbClr val="FFFFFF"/>
                    </a:solidFill>
                  </a:tcPr>
                </a:tc>
              </a:tr>
              <a:tr h="502920">
                <a:tc>
                  <a:txBody>
                    <a:bodyPr/>
                    <a:lstStyle/>
                    <a:p>
                      <a:r>
                        <a:rPr sz="1200" b="0">
                          <a:solidFill>
                            <a:srgbClr val="222222"/>
                          </a:solidFill>
                        </a:rPr>
                        <a:t>Book</a:t>
                      </a:r>
                    </a:p>
                  </a:txBody>
                  <a:tcPr marL="54864" marR="54864" marT="27432" marB="27432">
                    <a:solidFill>
                      <a:srgbClr val="EDF2F4"/>
                    </a:solidFill>
                  </a:tcPr>
                </a:tc>
                <a:tc>
                  <a:txBody>
                    <a:bodyPr/>
                    <a:lstStyle/>
                    <a:p>
                      <a:r>
                        <a:rPr sz="1200" b="0">
                          <a:solidFill>
                            <a:srgbClr val="222222"/>
                          </a:solidFill>
                        </a:rPr>
                        <a:t>Booking-intent rate (book + call + WhatsApp + form) / sessions</a:t>
                      </a:r>
                    </a:p>
                  </a:txBody>
                  <a:tcPr marL="54864" marR="54864" marT="27432" marB="27432">
                    <a:solidFill>
                      <a:srgbClr val="EDF2F4"/>
                    </a:solidFill>
                  </a:tcPr>
                </a:tc>
                <a:tc>
                  <a:txBody>
                    <a:bodyPr/>
                    <a:lstStyle/>
                    <a:p>
                      <a:r>
                        <a:rPr sz="1200" b="0">
                          <a:solidFill>
                            <a:srgbClr val="222222"/>
                          </a:solidFill>
                        </a:rPr>
                        <a:t>GA4 events</a:t>
                      </a:r>
                    </a:p>
                  </a:txBody>
                  <a:tcPr marL="54864" marR="54864" marT="27432" marB="27432">
                    <a:solidFill>
                      <a:srgbClr val="EDF2F4"/>
                    </a:solidFill>
                  </a:tcPr>
                </a:tc>
              </a:tr>
              <a:tr h="502920">
                <a:tc>
                  <a:txBody>
                    <a:bodyPr/>
                    <a:lstStyle/>
                    <a:p>
                      <a:r>
                        <a:rPr sz="1200" b="0">
                          <a:solidFill>
                            <a:srgbClr val="222222"/>
                          </a:solidFill>
                        </a:rPr>
                        <a:t>Book</a:t>
                      </a:r>
                    </a:p>
                  </a:txBody>
                  <a:tcPr marL="54864" marR="54864" marT="27432" marB="27432">
                    <a:solidFill>
                      <a:srgbClr val="FFFFFF"/>
                    </a:solidFill>
                  </a:tcPr>
                </a:tc>
                <a:tc>
                  <a:txBody>
                    <a:bodyPr/>
                    <a:lstStyle/>
                    <a:p>
                      <a:r>
                        <a:rPr sz="1200" b="0">
                          <a:solidFill>
                            <a:srgbClr val="222222"/>
                          </a:solidFill>
                        </a:rPr>
                        <a:t>Booking completion; median first-response time</a:t>
                      </a:r>
                    </a:p>
                  </a:txBody>
                  <a:tcPr marL="54864" marR="54864" marT="27432" marB="27432">
                    <a:solidFill>
                      <a:srgbClr val="FFFFFF"/>
                    </a:solidFill>
                  </a:tcPr>
                </a:tc>
                <a:tc>
                  <a:txBody>
                    <a:bodyPr/>
                    <a:lstStyle/>
                    <a:p>
                      <a:r>
                        <a:rPr sz="1200" b="0">
                          <a:solidFill>
                            <a:srgbClr val="222222"/>
                          </a:solidFill>
                        </a:rPr>
                        <a:t>Pabau; enquiry log</a:t>
                      </a:r>
                    </a:p>
                  </a:txBody>
                  <a:tcPr marL="54864" marR="54864" marT="27432" marB="27432">
                    <a:solidFill>
                      <a:srgbClr val="FFFFFF"/>
                    </a:solidFill>
                  </a:tcPr>
                </a:tc>
              </a:tr>
              <a:tr h="502920">
                <a:tc>
                  <a:txBody>
                    <a:bodyPr/>
                    <a:lstStyle/>
                    <a:p>
                      <a:r>
                        <a:rPr sz="1200" b="0">
                          <a:solidFill>
                            <a:srgbClr val="222222"/>
                          </a:solidFill>
                        </a:rPr>
                        <a:t>Consultation</a:t>
                      </a:r>
                    </a:p>
                  </a:txBody>
                  <a:tcPr marL="54864" marR="54864" marT="27432" marB="27432">
                    <a:solidFill>
                      <a:srgbClr val="EDF2F4"/>
                    </a:solidFill>
                  </a:tcPr>
                </a:tc>
                <a:tc>
                  <a:txBody>
                    <a:bodyPr/>
                    <a:lstStyle/>
                    <a:p>
                      <a:r>
                        <a:rPr sz="1200" b="0">
                          <a:solidFill>
                            <a:srgbClr val="222222"/>
                          </a:solidFill>
                        </a:rPr>
                        <a:t>Consultation-to-plan conversion within 30 days</a:t>
                      </a:r>
                    </a:p>
                  </a:txBody>
                  <a:tcPr marL="54864" marR="54864" marT="27432" marB="27432">
                    <a:solidFill>
                      <a:srgbClr val="EDF2F4"/>
                    </a:solidFill>
                  </a:tcPr>
                </a:tc>
                <a:tc>
                  <a:txBody>
                    <a:bodyPr/>
                    <a:lstStyle/>
                    <a:p>
                      <a:r>
                        <a:rPr sz="1200" b="0">
                          <a:solidFill>
                            <a:srgbClr val="222222"/>
                          </a:solidFill>
                        </a:rPr>
                        <a:t>Pabau</a:t>
                      </a:r>
                    </a:p>
                  </a:txBody>
                  <a:tcPr marL="54864" marR="54864" marT="27432" marB="27432">
                    <a:solidFill>
                      <a:srgbClr val="EDF2F4"/>
                    </a:solidFill>
                  </a:tcPr>
                </a:tc>
              </a:tr>
              <a:tr h="502920">
                <a:tc>
                  <a:txBody>
                    <a:bodyPr/>
                    <a:lstStyle/>
                    <a:p>
                      <a:r>
                        <a:rPr sz="1200" b="0">
                          <a:solidFill>
                            <a:srgbClr val="222222"/>
                          </a:solidFill>
                        </a:rPr>
                        <a:t>Retain</a:t>
                      </a:r>
                    </a:p>
                  </a:txBody>
                  <a:tcPr marL="54864" marR="54864" marT="27432" marB="27432">
                    <a:solidFill>
                      <a:srgbClr val="FFFFFF"/>
                    </a:solidFill>
                  </a:tcPr>
                </a:tc>
                <a:tc>
                  <a:txBody>
                    <a:bodyPr/>
                    <a:lstStyle/>
                    <a:p>
                      <a:r>
                        <a:rPr sz="1200" b="0">
                          <a:solidFill>
                            <a:srgbClr val="222222"/>
                          </a:solidFill>
                        </a:rPr>
                        <a:t>90-day repeat rate; reviews per month and rating</a:t>
                      </a:r>
                    </a:p>
                  </a:txBody>
                  <a:tcPr marL="54864" marR="54864" marT="27432" marB="27432">
                    <a:solidFill>
                      <a:srgbClr val="FFFFFF"/>
                    </a:solidFill>
                  </a:tcPr>
                </a:tc>
                <a:tc>
                  <a:txBody>
                    <a:bodyPr/>
                    <a:lstStyle/>
                    <a:p>
                      <a:r>
                        <a:rPr sz="1200" b="0">
                          <a:solidFill>
                            <a:srgbClr val="222222"/>
                          </a:solidFill>
                        </a:rPr>
                        <a:t>Pabau; Business Profile</a:t>
                      </a:r>
                    </a:p>
                  </a:txBody>
                  <a:tcPr marL="54864" marR="54864" marT="27432" marB="27432">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Validation: small, cheap, real</a:t>
            </a:r>
          </a:p>
        </p:txBody>
      </p:sp>
      <p:sp>
        <p:nvSpPr>
          <p:cNvPr id="4" name="TextBox 3"/>
          <p:cNvSpPr txBox="1"/>
          <p:nvPr/>
        </p:nvSpPr>
        <p:spPr>
          <a:xfrm>
            <a:off x="457200" y="1051560"/>
            <a:ext cx="11247120" cy="548640"/>
          </a:xfrm>
          <a:prstGeom prst="rect">
            <a:avLst/>
          </a:prstGeom>
          <a:noFill/>
        </p:spPr>
        <p:txBody>
          <a:bodyPr wrap="square">
            <a:spAutoFit/>
          </a:bodyPr>
          <a:lstStyle/>
          <a:p>
            <a:pPr algn="l">
              <a:spcAft>
                <a:spcPts val="600"/>
              </a:spcAft>
            </a:pPr>
            <a:r>
              <a:rPr sz="1500" b="1">
                <a:solidFill>
                  <a:srgbClr val="1F3A5F"/>
                </a:solidFill>
              </a:rPr>
              <a:t>≈ 6 weeks · ≈ £1,000–£1,800 external · no simulated agents counted as respondents</a:t>
            </a:r>
          </a:p>
        </p:txBody>
      </p:sp>
      <p:sp>
        <p:nvSpPr>
          <p:cNvPr id="5" name="TextBox 4"/>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validation-plan.md   |   The HVN strategy review · 15 Oct 2026 · 20</a:t>
            </a:r>
          </a:p>
        </p:txBody>
      </p:sp>
      <p:graphicFrame>
        <p:nvGraphicFramePr>
          <p:cNvPr id="6" name="Table 5"/>
          <p:cNvGraphicFramePr>
            <a:graphicFrameLocks noGrp="1"/>
          </p:cNvGraphicFramePr>
          <p:nvPr/>
        </p:nvGraphicFramePr>
        <p:xfrm>
          <a:off x="457200" y="1737360"/>
          <a:ext cx="7498080" cy="3017520"/>
        </p:xfrm>
        <a:graphic>
          <a:graphicData uri="http://schemas.openxmlformats.org/drawingml/2006/table">
            <a:tbl>
              <a:tblPr firstRow="1" bandRow="1">
                <a:tableStyleId>{5C22544A-7EE6-4342-B048-85BDC9FD1C3A}</a:tableStyleId>
              </a:tblPr>
              <a:tblGrid>
                <a:gridCol w="2011680"/>
                <a:gridCol w="4023360"/>
                <a:gridCol w="1463040"/>
              </a:tblGrid>
              <a:tr h="502920">
                <a:tc>
                  <a:txBody>
                    <a:bodyPr/>
                    <a:lstStyle/>
                    <a:p>
                      <a:r>
                        <a:rPr sz="1200" b="1">
                          <a:solidFill>
                            <a:srgbClr val="FFFFFF"/>
                          </a:solidFill>
                        </a:rPr>
                        <a:t>Workstream</a:t>
                      </a:r>
                    </a:p>
                  </a:txBody>
                  <a:tcPr marL="54864" marR="54864" marT="27432" marB="27432">
                    <a:solidFill>
                      <a:srgbClr val="1F3A5F"/>
                    </a:solidFill>
                  </a:tcPr>
                </a:tc>
                <a:tc>
                  <a:txBody>
                    <a:bodyPr/>
                    <a:lstStyle/>
                    <a:p>
                      <a:r>
                        <a:rPr sz="1200" b="1">
                          <a:solidFill>
                            <a:srgbClr val="FFFFFF"/>
                          </a:solidFill>
                        </a:rPr>
                        <a:t>What</a:t>
                      </a:r>
                    </a:p>
                  </a:txBody>
                  <a:tcPr marL="54864" marR="54864" marT="27432" marB="27432">
                    <a:solidFill>
                      <a:srgbClr val="1F3A5F"/>
                    </a:solidFill>
                  </a:tcPr>
                </a:tc>
                <a:tc>
                  <a:txBody>
                    <a:bodyPr/>
                    <a:lstStyle/>
                    <a:p>
                      <a:r>
                        <a:rPr sz="1200" b="1">
                          <a:solidFill>
                            <a:srgbClr val="FFFFFF"/>
                          </a:solidFill>
                        </a:rPr>
                        <a:t>Cost</a:t>
                      </a:r>
                    </a:p>
                  </a:txBody>
                  <a:tcPr marL="54864" marR="54864" marT="27432" marB="27432">
                    <a:solidFill>
                      <a:srgbClr val="1F3A5F"/>
                    </a:solidFill>
                  </a:tcPr>
                </a:tc>
              </a:tr>
              <a:tr h="502920">
                <a:tc>
                  <a:txBody>
                    <a:bodyPr/>
                    <a:lstStyle/>
                    <a:p>
                      <a:r>
                        <a:rPr sz="1200" b="0">
                          <a:solidFill>
                            <a:srgbClr val="222222"/>
                          </a:solidFill>
                        </a:rPr>
                        <a:t>A Analytics baseline</a:t>
                      </a:r>
                    </a:p>
                  </a:txBody>
                  <a:tcPr marL="54864" marR="54864" marT="27432" marB="27432">
                    <a:solidFill>
                      <a:srgbClr val="FFFFFF"/>
                    </a:solidFill>
                  </a:tcPr>
                </a:tc>
                <a:tc>
                  <a:txBody>
                    <a:bodyPr/>
                    <a:lstStyle/>
                    <a:p>
                      <a:r>
                        <a:rPr sz="1200" b="0">
                          <a:solidFill>
                            <a:srgbClr val="222222"/>
                          </a:solidFill>
                        </a:rPr>
                        <a:t>GA4 events, Pabau funnel, enquiry log</a:t>
                      </a:r>
                    </a:p>
                  </a:txBody>
                  <a:tcPr marL="54864" marR="54864" marT="27432" marB="27432">
                    <a:solidFill>
                      <a:srgbClr val="FFFFFF"/>
                    </a:solidFill>
                  </a:tcPr>
                </a:tc>
                <a:tc>
                  <a:txBody>
                    <a:bodyPr/>
                    <a:lstStyle/>
                    <a:p>
                      <a:r>
                        <a:rPr sz="1200" b="0">
                          <a:solidFill>
                            <a:srgbClr val="222222"/>
                          </a:solidFill>
                        </a:rPr>
                        <a:t>Staff time</a:t>
                      </a:r>
                    </a:p>
                  </a:txBody>
                  <a:tcPr marL="54864" marR="54864" marT="27432" marB="27432">
                    <a:solidFill>
                      <a:srgbClr val="FFFFFF"/>
                    </a:solidFill>
                  </a:tcPr>
                </a:tc>
              </a:tr>
              <a:tr h="502920">
                <a:tc>
                  <a:txBody>
                    <a:bodyPr/>
                    <a:lstStyle/>
                    <a:p>
                      <a:r>
                        <a:rPr sz="1200" b="0">
                          <a:solidFill>
                            <a:srgbClr val="222222"/>
                          </a:solidFill>
                        </a:rPr>
                        <a:t>B Booking test</a:t>
                      </a:r>
                    </a:p>
                  </a:txBody>
                  <a:tcPr marL="54864" marR="54864" marT="27432" marB="27432">
                    <a:solidFill>
                      <a:srgbClr val="EDF2F4"/>
                    </a:solidFill>
                  </a:tcPr>
                </a:tc>
                <a:tc>
                  <a:txBody>
                    <a:bodyPr/>
                    <a:lstStyle/>
                    <a:p>
                      <a:r>
                        <a:rPr sz="1200" b="0">
                          <a:solidFill>
                            <a:srgbClr val="222222"/>
                          </a:solidFill>
                        </a:rPr>
                        <a:t>Staff test, mobile and desktop, no payment</a:t>
                      </a:r>
                    </a:p>
                  </a:txBody>
                  <a:tcPr marL="54864" marR="54864" marT="27432" marB="27432">
                    <a:solidFill>
                      <a:srgbClr val="EDF2F4"/>
                    </a:solidFill>
                  </a:tcPr>
                </a:tc>
                <a:tc>
                  <a:txBody>
                    <a:bodyPr/>
                    <a:lstStyle/>
                    <a:p>
                      <a:r>
                        <a:rPr sz="1200" b="0">
                          <a:solidFill>
                            <a:srgbClr val="222222"/>
                          </a:solidFill>
                        </a:rPr>
                        <a:t>½ day</a:t>
                      </a:r>
                    </a:p>
                  </a:txBody>
                  <a:tcPr marL="54864" marR="54864" marT="27432" marB="27432">
                    <a:solidFill>
                      <a:srgbClr val="EDF2F4"/>
                    </a:solidFill>
                  </a:tcPr>
                </a:tc>
              </a:tr>
              <a:tr h="502920">
                <a:tc>
                  <a:txBody>
                    <a:bodyPr/>
                    <a:lstStyle/>
                    <a:p>
                      <a:r>
                        <a:rPr sz="1200" b="0">
                          <a:solidFill>
                            <a:srgbClr val="222222"/>
                          </a:solidFill>
                        </a:rPr>
                        <a:t>C Usability</a:t>
                      </a:r>
                    </a:p>
                  </a:txBody>
                  <a:tcPr marL="54864" marR="54864" marT="27432" marB="27432">
                    <a:solidFill>
                      <a:srgbClr val="FFFFFF"/>
                    </a:solidFill>
                  </a:tcPr>
                </a:tc>
                <a:tc>
                  <a:txBody>
                    <a:bodyPr/>
                    <a:lstStyle/>
                    <a:p>
                      <a:r>
                        <a:rPr sz="1200" b="0">
                          <a:solidFill>
                            <a:srgbClr val="222222"/>
                          </a:solidFill>
                        </a:rPr>
                        <a:t>5–6 non-clients, 5 tasks on the live site</a:t>
                      </a:r>
                    </a:p>
                  </a:txBody>
                  <a:tcPr marL="54864" marR="54864" marT="27432" marB="27432">
                    <a:solidFill>
                      <a:srgbClr val="FFFFFF"/>
                    </a:solidFill>
                  </a:tcPr>
                </a:tc>
                <a:tc>
                  <a:txBody>
                    <a:bodyPr/>
                    <a:lstStyle/>
                    <a:p>
                      <a:r>
                        <a:rPr sz="1200" b="0">
                          <a:solidFill>
                            <a:srgbClr val="222222"/>
                          </a:solidFill>
                        </a:rPr>
                        <a:t>£400–£600</a:t>
                      </a:r>
                    </a:p>
                  </a:txBody>
                  <a:tcPr marL="54864" marR="54864" marT="27432" marB="27432">
                    <a:solidFill>
                      <a:srgbClr val="FFFFFF"/>
                    </a:solidFill>
                  </a:tcPr>
                </a:tc>
              </a:tr>
              <a:tr h="502920">
                <a:tc>
                  <a:txBody>
                    <a:bodyPr/>
                    <a:lstStyle/>
                    <a:p>
                      <a:r>
                        <a:rPr sz="1200" b="0">
                          <a:solidFill>
                            <a:srgbClr val="222222"/>
                          </a:solidFill>
                        </a:rPr>
                        <a:t>D Interviews</a:t>
                      </a:r>
                    </a:p>
                  </a:txBody>
                  <a:tcPr marL="54864" marR="54864" marT="27432" marB="27432">
                    <a:solidFill>
                      <a:srgbClr val="EDF2F4"/>
                    </a:solidFill>
                  </a:tcPr>
                </a:tc>
                <a:tc>
                  <a:txBody>
                    <a:bodyPr/>
                    <a:lstStyle/>
                    <a:p>
                      <a:r>
                        <a:rPr sz="1200" b="0">
                          <a:solidFill>
                            <a:srgbClr val="222222"/>
                          </a:solidFill>
                        </a:rPr>
                        <a:t>8–12 clients, lapsed enquirers, gatekeepers</a:t>
                      </a:r>
                    </a:p>
                  </a:txBody>
                  <a:tcPr marL="54864" marR="54864" marT="27432" marB="27432">
                    <a:solidFill>
                      <a:srgbClr val="EDF2F4"/>
                    </a:solidFill>
                  </a:tcPr>
                </a:tc>
                <a:tc>
                  <a:txBody>
                    <a:bodyPr/>
                    <a:lstStyle/>
                    <a:p>
                      <a:r>
                        <a:rPr sz="1200" b="0">
                          <a:solidFill>
                            <a:srgbClr val="222222"/>
                          </a:solidFill>
                        </a:rPr>
                        <a:t>£400–£600</a:t>
                      </a:r>
                    </a:p>
                  </a:txBody>
                  <a:tcPr marL="54864" marR="54864" marT="27432" marB="27432">
                    <a:solidFill>
                      <a:srgbClr val="EDF2F4"/>
                    </a:solidFill>
                  </a:tcPr>
                </a:tc>
              </a:tr>
              <a:tr h="502920">
                <a:tc>
                  <a:txBody>
                    <a:bodyPr/>
                    <a:lstStyle/>
                    <a:p>
                      <a:r>
                        <a:rPr sz="1200" b="0">
                          <a:solidFill>
                            <a:srgbClr val="222222"/>
                          </a:solidFill>
                        </a:rPr>
                        <a:t>E Copy tests</a:t>
                      </a:r>
                    </a:p>
                  </a:txBody>
                  <a:tcPr marL="54864" marR="54864" marT="27432" marB="27432">
                    <a:solidFill>
                      <a:srgbClr val="FFFFFF"/>
                    </a:solidFill>
                  </a:tcPr>
                </a:tc>
                <a:tc>
                  <a:txBody>
                    <a:bodyPr/>
                    <a:lstStyle/>
                    <a:p>
                      <a:r>
                        <a:rPr sz="1200" b="0">
                          <a:solidFill>
                            <a:srgbClr val="222222"/>
                          </a:solidFill>
                        </a:rPr>
                        <a:t>After claims review and approval</a:t>
                      </a:r>
                    </a:p>
                  </a:txBody>
                  <a:tcPr marL="54864" marR="54864" marT="27432" marB="27432">
                    <a:solidFill>
                      <a:srgbClr val="FFFFFF"/>
                    </a:solidFill>
                  </a:tcPr>
                </a:tc>
                <a:tc>
                  <a:txBody>
                    <a:bodyPr/>
                    <a:lstStyle/>
                    <a:p>
                      <a:r>
                        <a:rPr sz="1200" b="0">
                          <a:solidFill>
                            <a:srgbClr val="222222"/>
                          </a:solidFill>
                        </a:rPr>
                        <a:t>Later</a:t>
                      </a:r>
                    </a:p>
                  </a:txBody>
                  <a:tcPr marL="54864" marR="54864" marT="27432" marB="27432">
                    <a:solidFill>
                      <a:srgbClr val="FFFFFF"/>
                    </a:solidFill>
                  </a:tcPr>
                </a:tc>
              </a:tr>
            </a:tbl>
          </a:graphicData>
        </a:graphic>
      </p:graphicFrame>
      <p:sp>
        <p:nvSpPr>
          <p:cNvPr id="7" name="Rectangle 6"/>
          <p:cNvSpPr/>
          <p:nvPr/>
        </p:nvSpPr>
        <p:spPr>
          <a:xfrm>
            <a:off x="8229600" y="1737360"/>
            <a:ext cx="3566160" cy="4389120"/>
          </a:xfrm>
          <a:prstGeom prst="rect">
            <a:avLst/>
          </a:prstGeom>
          <a:solidFill>
            <a:srgbClr val="E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1737360"/>
            <a:ext cx="82296" cy="438912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828800"/>
            <a:ext cx="3291840" cy="457200"/>
          </a:xfrm>
          <a:prstGeom prst="rect">
            <a:avLst/>
          </a:prstGeom>
          <a:noFill/>
        </p:spPr>
        <p:txBody>
          <a:bodyPr wrap="square">
            <a:spAutoFit/>
          </a:bodyPr>
          <a:lstStyle/>
          <a:p>
            <a:pPr algn="l">
              <a:spcAft>
                <a:spcPts val="600"/>
              </a:spcAft>
            </a:pPr>
            <a:r>
              <a:rPr sz="1500" b="1">
                <a:solidFill>
                  <a:srgbClr val="C8553D"/>
                </a:solidFill>
              </a:rPr>
              <a:t>Approval gates</a:t>
            </a:r>
          </a:p>
        </p:txBody>
      </p:sp>
      <p:sp>
        <p:nvSpPr>
          <p:cNvPr id="10" name="TextBox 9"/>
          <p:cNvSpPr txBox="1"/>
          <p:nvPr/>
        </p:nvSpPr>
        <p:spPr>
          <a:xfrm>
            <a:off x="8412480" y="2286000"/>
            <a:ext cx="3291840" cy="3749040"/>
          </a:xfrm>
          <a:prstGeom prst="rect">
            <a:avLst/>
          </a:prstGeom>
          <a:noFill/>
        </p:spPr>
        <p:txBody>
          <a:bodyPr wrap="square">
            <a:spAutoFit/>
          </a:bodyPr>
          <a:lstStyle/>
          <a:p>
            <a:pPr algn="l">
              <a:spcAft>
                <a:spcPts val="600"/>
              </a:spcAft>
            </a:pPr>
            <a:r>
              <a:rPr sz="1200" b="0">
                <a:solidFill>
                  <a:srgbClr val="222222"/>
                </a:solidFill>
              </a:rPr>
              <a:t>• G1 booking test + tagging</a:t>
            </a:r>
          </a:p>
          <a:p>
            <a:pPr algn="l">
              <a:spcAft>
                <a:spcPts val="600"/>
              </a:spcAft>
            </a:pPr>
            <a:r>
              <a:rPr sz="1200" b="0">
                <a:solidFill>
                  <a:srgbClr val="222222"/>
                </a:solidFill>
              </a:rPr>
              <a:t>• G2 non-client panel + incentives</a:t>
            </a:r>
          </a:p>
          <a:p>
            <a:pPr algn="l">
              <a:spcAft>
                <a:spcPts val="600"/>
              </a:spcAft>
            </a:pPr>
            <a:r>
              <a:rPr sz="1200" b="0">
                <a:solidFill>
                  <a:srgbClr val="222222"/>
                </a:solidFill>
              </a:rPr>
              <a:t>• G3 contacting clients/enquirers</a:t>
            </a:r>
          </a:p>
          <a:p>
            <a:pPr algn="l">
              <a:spcAft>
                <a:spcPts val="600"/>
              </a:spcAft>
            </a:pPr>
            <a:r>
              <a:rPr sz="1200" b="0">
                <a:solidFill>
                  <a:srgbClr val="222222"/>
                </a:solidFill>
              </a:rPr>
              <a:t>• G4 any website change or A/B test</a:t>
            </a:r>
          </a:p>
          <a:p>
            <a:pPr algn="l">
              <a:spcAft>
                <a:spcPts val="600"/>
              </a:spcAft>
            </a:pPr>
            <a:r>
              <a:rPr sz="1200" b="0">
                <a:solidFill>
                  <a:srgbClr val="222222"/>
                </a:solidFill>
              </a:rPr>
              <a:t>• G5 any competitor enquiry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Hypotheses the simulations raised, and how to test them</a:t>
            </a:r>
          </a:p>
        </p:txBody>
      </p:sp>
      <p:sp>
        <p:nvSpPr>
          <p:cNvPr id="4" name="TextBox 3"/>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validation-plan.md §2   |   The HVN strategy review · 15 Oct 2026 · 21</a:t>
            </a:r>
          </a:p>
        </p:txBody>
      </p:sp>
      <p:graphicFrame>
        <p:nvGraphicFramePr>
          <p:cNvPr id="5" name="Table 4"/>
          <p:cNvGraphicFramePr>
            <a:graphicFrameLocks noGrp="1"/>
          </p:cNvGraphicFramePr>
          <p:nvPr/>
        </p:nvGraphicFramePr>
        <p:xfrm>
          <a:off x="365760" y="1188720"/>
          <a:ext cx="11430000" cy="4526280"/>
        </p:xfrm>
        <a:graphic>
          <a:graphicData uri="http://schemas.openxmlformats.org/drawingml/2006/table">
            <a:tbl>
              <a:tblPr firstRow="1" bandRow="1">
                <a:tableStyleId>{5C22544A-7EE6-4342-B048-85BDC9FD1C3A}</a:tableStyleId>
              </a:tblPr>
              <a:tblGrid>
                <a:gridCol w="640080"/>
                <a:gridCol w="4937760"/>
                <a:gridCol w="731520"/>
                <a:gridCol w="3108960"/>
                <a:gridCol w="2011680"/>
              </a:tblGrid>
              <a:tr h="502920">
                <a:tc>
                  <a:txBody>
                    <a:bodyPr/>
                    <a:lstStyle/>
                    <a:p>
                      <a:r>
                        <a:rPr sz="1100" b="1">
                          <a:solidFill>
                            <a:srgbClr val="FFFFFF"/>
                          </a:solidFill>
                        </a:rPr>
                        <a:t>ID</a:t>
                      </a:r>
                    </a:p>
                  </a:txBody>
                  <a:tcPr marL="54864" marR="54864" marT="27432" marB="27432">
                    <a:solidFill>
                      <a:srgbClr val="1F3A5F"/>
                    </a:solidFill>
                  </a:tcPr>
                </a:tc>
                <a:tc>
                  <a:txBody>
                    <a:bodyPr/>
                    <a:lstStyle/>
                    <a:p>
                      <a:r>
                        <a:rPr sz="1100" b="1">
                          <a:solidFill>
                            <a:srgbClr val="FFFFFF"/>
                          </a:solidFill>
                        </a:rPr>
                        <a:t>Hypothesis</a:t>
                      </a:r>
                    </a:p>
                  </a:txBody>
                  <a:tcPr marL="54864" marR="54864" marT="27432" marB="27432">
                    <a:solidFill>
                      <a:srgbClr val="1F3A5F"/>
                    </a:solidFill>
                  </a:tcPr>
                </a:tc>
                <a:tc>
                  <a:txBody>
                    <a:bodyPr/>
                    <a:lstStyle/>
                    <a:p>
                      <a:r>
                        <a:rPr sz="1100" b="1">
                          <a:solidFill>
                            <a:srgbClr val="FFFFFF"/>
                          </a:solidFill>
                        </a:rPr>
                        <a:t>Prior</a:t>
                      </a:r>
                    </a:p>
                  </a:txBody>
                  <a:tcPr marL="54864" marR="54864" marT="27432" marB="27432">
                    <a:solidFill>
                      <a:srgbClr val="1F3A5F"/>
                    </a:solidFill>
                  </a:tcPr>
                </a:tc>
                <a:tc>
                  <a:txBody>
                    <a:bodyPr/>
                    <a:lstStyle/>
                    <a:p>
                      <a:r>
                        <a:rPr sz="1100" b="1">
                          <a:solidFill>
                            <a:srgbClr val="FFFFFF"/>
                          </a:solidFill>
                        </a:rPr>
                        <a:t>Method</a:t>
                      </a:r>
                    </a:p>
                  </a:txBody>
                  <a:tcPr marL="54864" marR="54864" marT="27432" marB="27432">
                    <a:solidFill>
                      <a:srgbClr val="1F3A5F"/>
                    </a:solidFill>
                  </a:tcPr>
                </a:tc>
                <a:tc>
                  <a:txBody>
                    <a:bodyPr/>
                    <a:lstStyle/>
                    <a:p>
                      <a:r>
                        <a:rPr sz="1100" b="1">
                          <a:solidFill>
                            <a:srgbClr val="FFFFFF"/>
                          </a:solidFill>
                        </a:rPr>
                        <a:t>Changes</a:t>
                      </a:r>
                    </a:p>
                  </a:txBody>
                  <a:tcPr marL="54864" marR="54864" marT="27432" marB="27432">
                    <a:solidFill>
                      <a:srgbClr val="1F3A5F"/>
                    </a:solidFill>
                  </a:tcPr>
                </a:tc>
              </a:tr>
              <a:tr h="502920">
                <a:tc>
                  <a:txBody>
                    <a:bodyPr/>
                    <a:lstStyle/>
                    <a:p>
                      <a:r>
                        <a:rPr sz="1100" b="0">
                          <a:solidFill>
                            <a:srgbClr val="222222"/>
                          </a:solidFill>
                        </a:rPr>
                        <a:t>H01</a:t>
                      </a:r>
                    </a:p>
                  </a:txBody>
                  <a:tcPr marL="54864" marR="54864" marT="27432" marB="27432">
                    <a:solidFill>
                      <a:srgbClr val="FFFFFF"/>
                    </a:solidFill>
                  </a:tcPr>
                </a:tc>
                <a:tc>
                  <a:txBody>
                    <a:bodyPr/>
                    <a:lstStyle/>
                    <a:p>
                      <a:r>
                        <a:rPr sz="1100" b="0">
                          <a:solidFill>
                            <a:srgbClr val="222222"/>
                          </a:solidFill>
                        </a:rPr>
                        <a:t>Unknown plan totals stop people booking a paid consultation</a:t>
                      </a:r>
                    </a:p>
                  </a:txBody>
                  <a:tcPr marL="54864" marR="54864" marT="27432" marB="27432">
                    <a:solidFill>
                      <a:srgbClr val="FFFFFF"/>
                    </a:solidFill>
                  </a:tcPr>
                </a:tc>
                <a:tc>
                  <a:txBody>
                    <a:bodyPr/>
                    <a:lstStyle/>
                    <a:p>
                      <a:r>
                        <a:rPr sz="1100" b="0">
                          <a:solidFill>
                            <a:srgbClr val="222222"/>
                          </a:solidFill>
                        </a:rPr>
                        <a:t>M/L</a:t>
                      </a:r>
                    </a:p>
                  </a:txBody>
                  <a:tcPr marL="54864" marR="54864" marT="27432" marB="27432">
                    <a:solidFill>
                      <a:srgbClr val="FFFFFF"/>
                    </a:solidFill>
                  </a:tcPr>
                </a:tc>
                <a:tc>
                  <a:txBody>
                    <a:bodyPr/>
                    <a:lstStyle/>
                    <a:p>
                      <a:r>
                        <a:rPr sz="1100" b="0">
                          <a:solidFill>
                            <a:srgbClr val="222222"/>
                          </a:solidFill>
                        </a:rPr>
                        <a:t>Interviews, usability, enquiry log</a:t>
                      </a:r>
                    </a:p>
                  </a:txBody>
                  <a:tcPr marL="54864" marR="54864" marT="27432" marB="27432">
                    <a:solidFill>
                      <a:srgbClr val="FFFFFF"/>
                    </a:solidFill>
                  </a:tcPr>
                </a:tc>
                <a:tc>
                  <a:txBody>
                    <a:bodyPr/>
                    <a:lstStyle/>
                    <a:p>
                      <a:r>
                        <a:rPr sz="1100" b="0">
                          <a:solidFill>
                            <a:srgbClr val="222222"/>
                          </a:solidFill>
                        </a:rPr>
                        <a:t>R11, R12</a:t>
                      </a:r>
                    </a:p>
                  </a:txBody>
                  <a:tcPr marL="54864" marR="54864" marT="27432" marB="27432">
                    <a:solidFill>
                      <a:srgbClr val="FFFFFF"/>
                    </a:solidFill>
                  </a:tcPr>
                </a:tc>
              </a:tr>
              <a:tr h="502920">
                <a:tc>
                  <a:txBody>
                    <a:bodyPr/>
                    <a:lstStyle/>
                    <a:p>
                      <a:r>
                        <a:rPr sz="1100" b="0">
                          <a:solidFill>
                            <a:srgbClr val="222222"/>
                          </a:solidFill>
                        </a:rPr>
                        <a:t>H02</a:t>
                      </a:r>
                    </a:p>
                  </a:txBody>
                  <a:tcPr marL="54864" marR="54864" marT="27432" marB="27432">
                    <a:solidFill>
                      <a:srgbClr val="EDF2F4"/>
                    </a:solidFill>
                  </a:tcPr>
                </a:tc>
                <a:tc>
                  <a:txBody>
                    <a:bodyPr/>
                    <a:lstStyle/>
                    <a:p>
                      <a:r>
                        <a:rPr sz="1100" b="0">
                          <a:solidFill>
                            <a:srgbClr val="222222"/>
                          </a:solidFill>
                        </a:rPr>
                        <a:t>A published range is enough</a:t>
                      </a:r>
                    </a:p>
                  </a:txBody>
                  <a:tcPr marL="54864" marR="54864" marT="27432" marB="27432">
                    <a:solidFill>
                      <a:srgbClr val="EDF2F4"/>
                    </a:solidFill>
                  </a:tcPr>
                </a:tc>
                <a:tc>
                  <a:txBody>
                    <a:bodyPr/>
                    <a:lstStyle/>
                    <a:p>
                      <a:r>
                        <a:rPr sz="1100" b="0">
                          <a:solidFill>
                            <a:srgbClr val="222222"/>
                          </a:solidFill>
                        </a:rPr>
                        <a:t>L</a:t>
                      </a:r>
                    </a:p>
                  </a:txBody>
                  <a:tcPr marL="54864" marR="54864" marT="27432" marB="27432">
                    <a:solidFill>
                      <a:srgbClr val="EDF2F4"/>
                    </a:solidFill>
                  </a:tcPr>
                </a:tc>
                <a:tc>
                  <a:txBody>
                    <a:bodyPr/>
                    <a:lstStyle/>
                    <a:p>
                      <a:r>
                        <a:rPr sz="1100" b="0">
                          <a:solidFill>
                            <a:srgbClr val="222222"/>
                          </a:solidFill>
                        </a:rPr>
                        <a:t>Interviews, usability</a:t>
                      </a:r>
                    </a:p>
                  </a:txBody>
                  <a:tcPr marL="54864" marR="54864" marT="27432" marB="27432">
                    <a:solidFill>
                      <a:srgbClr val="EDF2F4"/>
                    </a:solidFill>
                  </a:tcPr>
                </a:tc>
                <a:tc>
                  <a:txBody>
                    <a:bodyPr/>
                    <a:lstStyle/>
                    <a:p>
                      <a:r>
                        <a:rPr sz="1100" b="0">
                          <a:solidFill>
                            <a:srgbClr val="222222"/>
                          </a:solidFill>
                        </a:rPr>
                        <a:t>R11</a:t>
                      </a:r>
                    </a:p>
                  </a:txBody>
                  <a:tcPr marL="54864" marR="54864" marT="27432" marB="27432">
                    <a:solidFill>
                      <a:srgbClr val="EDF2F4"/>
                    </a:solidFill>
                  </a:tcPr>
                </a:tc>
              </a:tr>
              <a:tr h="502920">
                <a:tc>
                  <a:txBody>
                    <a:bodyPr/>
                    <a:lstStyle/>
                    <a:p>
                      <a:r>
                        <a:rPr sz="1100" b="0">
                          <a:solidFill>
                            <a:srgbClr val="222222"/>
                          </a:solidFill>
                        </a:rPr>
                        <a:t>H04</a:t>
                      </a:r>
                    </a:p>
                  </a:txBody>
                  <a:tcPr marL="54864" marR="54864" marT="27432" marB="27432">
                    <a:solidFill>
                      <a:srgbClr val="FFFFFF"/>
                    </a:solidFill>
                  </a:tcPr>
                </a:tc>
                <a:tc>
                  <a:txBody>
                    <a:bodyPr/>
                    <a:lstStyle/>
                    <a:p>
                      <a:r>
                        <a:rPr sz="1100" b="0">
                          <a:solidFill>
                            <a:srgbClr val="222222"/>
                          </a:solidFill>
                        </a:rPr>
                        <a:t>Naming the clinician raises trust and intent</a:t>
                      </a:r>
                    </a:p>
                  </a:txBody>
                  <a:tcPr marL="54864" marR="54864" marT="27432" marB="27432">
                    <a:solidFill>
                      <a:srgbClr val="FFFFFF"/>
                    </a:solidFill>
                  </a:tcPr>
                </a:tc>
                <a:tc>
                  <a:txBody>
                    <a:bodyPr/>
                    <a:lstStyle/>
                    <a:p>
                      <a:r>
                        <a:rPr sz="1100" b="0">
                          <a:solidFill>
                            <a:srgbClr val="222222"/>
                          </a:solidFill>
                        </a:rPr>
                        <a:t>M</a:t>
                      </a:r>
                    </a:p>
                  </a:txBody>
                  <a:tcPr marL="54864" marR="54864" marT="27432" marB="27432">
                    <a:solidFill>
                      <a:srgbClr val="FFFFFF"/>
                    </a:solidFill>
                  </a:tcPr>
                </a:tc>
                <a:tc>
                  <a:txBody>
                    <a:bodyPr/>
                    <a:lstStyle/>
                    <a:p>
                      <a:r>
                        <a:rPr sz="1100" b="0">
                          <a:solidFill>
                            <a:srgbClr val="222222"/>
                          </a:solidFill>
                        </a:rPr>
                        <a:t>Usability mock-up, interviews</a:t>
                      </a:r>
                    </a:p>
                  </a:txBody>
                  <a:tcPr marL="54864" marR="54864" marT="27432" marB="27432">
                    <a:solidFill>
                      <a:srgbClr val="FFFFFF"/>
                    </a:solidFill>
                  </a:tcPr>
                </a:tc>
                <a:tc>
                  <a:txBody>
                    <a:bodyPr/>
                    <a:lstStyle/>
                    <a:p>
                      <a:r>
                        <a:rPr sz="1100" b="0">
                          <a:solidFill>
                            <a:srgbClr val="222222"/>
                          </a:solidFill>
                        </a:rPr>
                        <a:t>R13</a:t>
                      </a:r>
                    </a:p>
                  </a:txBody>
                  <a:tcPr marL="54864" marR="54864" marT="27432" marB="27432">
                    <a:solidFill>
                      <a:srgbClr val="FFFFFF"/>
                    </a:solidFill>
                  </a:tcPr>
                </a:tc>
              </a:tr>
              <a:tr h="502920">
                <a:tc>
                  <a:txBody>
                    <a:bodyPr/>
                    <a:lstStyle/>
                    <a:p>
                      <a:r>
                        <a:rPr sz="1100" b="0">
                          <a:solidFill>
                            <a:srgbClr val="222222"/>
                          </a:solidFill>
                        </a:rPr>
                        <a:t>H05</a:t>
                      </a:r>
                    </a:p>
                  </a:txBody>
                  <a:tcPr marL="54864" marR="54864" marT="27432" marB="27432">
                    <a:solidFill>
                      <a:srgbClr val="EDF2F4"/>
                    </a:solidFill>
                  </a:tcPr>
                </a:tc>
                <a:tc>
                  <a:txBody>
                    <a:bodyPr/>
                    <a:lstStyle/>
                    <a:p>
                      <a:r>
                        <a:rPr sz="1100" b="0">
                          <a:solidFill>
                            <a:srgbClr val="222222"/>
                          </a:solidFill>
                        </a:rPr>
                        <a:t>Prospects check CQC status (after verifying it)</a:t>
                      </a:r>
                    </a:p>
                  </a:txBody>
                  <a:tcPr marL="54864" marR="54864" marT="27432" marB="27432">
                    <a:solidFill>
                      <a:srgbClr val="EDF2F4"/>
                    </a:solidFill>
                  </a:tcPr>
                </a:tc>
                <a:tc>
                  <a:txBody>
                    <a:bodyPr/>
                    <a:lstStyle/>
                    <a:p>
                      <a:r>
                        <a:rPr sz="1100" b="0">
                          <a:solidFill>
                            <a:srgbClr val="222222"/>
                          </a:solidFill>
                        </a:rPr>
                        <a:t>L</a:t>
                      </a:r>
                    </a:p>
                  </a:txBody>
                  <a:tcPr marL="54864" marR="54864" marT="27432" marB="27432">
                    <a:solidFill>
                      <a:srgbClr val="EDF2F4"/>
                    </a:solidFill>
                  </a:tcPr>
                </a:tc>
                <a:tc>
                  <a:txBody>
                    <a:bodyPr/>
                    <a:lstStyle/>
                    <a:p>
                      <a:r>
                        <a:rPr sz="1100" b="0">
                          <a:solidFill>
                            <a:srgbClr val="222222"/>
                          </a:solidFill>
                        </a:rPr>
                        <a:t>R05, then interviews</a:t>
                      </a:r>
                    </a:p>
                  </a:txBody>
                  <a:tcPr marL="54864" marR="54864" marT="27432" marB="27432">
                    <a:solidFill>
                      <a:srgbClr val="EDF2F4"/>
                    </a:solidFill>
                  </a:tcPr>
                </a:tc>
                <a:tc>
                  <a:txBody>
                    <a:bodyPr/>
                    <a:lstStyle/>
                    <a:p>
                      <a:r>
                        <a:rPr sz="1100" b="0">
                          <a:solidFill>
                            <a:srgbClr val="222222"/>
                          </a:solidFill>
                        </a:rPr>
                        <a:t>R05</a:t>
                      </a:r>
                    </a:p>
                  </a:txBody>
                  <a:tcPr marL="54864" marR="54864" marT="27432" marB="27432">
                    <a:solidFill>
                      <a:srgbClr val="EDF2F4"/>
                    </a:solidFill>
                  </a:tcPr>
                </a:tc>
              </a:tr>
              <a:tr h="502920">
                <a:tc>
                  <a:txBody>
                    <a:bodyPr/>
                    <a:lstStyle/>
                    <a:p>
                      <a:r>
                        <a:rPr sz="1100" b="0">
                          <a:solidFill>
                            <a:srgbClr val="222222"/>
                          </a:solidFill>
                        </a:rPr>
                        <a:t>H06</a:t>
                      </a:r>
                    </a:p>
                  </a:txBody>
                  <a:tcPr marL="54864" marR="54864" marT="27432" marB="27432">
                    <a:solidFill>
                      <a:srgbClr val="FFFFFF"/>
                    </a:solidFill>
                  </a:tcPr>
                </a:tc>
                <a:tc>
                  <a:txBody>
                    <a:bodyPr/>
                    <a:lstStyle/>
                    <a:p>
                      <a:r>
                        <a:rPr sz="1100" b="0">
                          <a:solidFill>
                            <a:srgbClr val="222222"/>
                          </a:solidFill>
                        </a:rPr>
                        <a:t>'No membership' is a positive differentiator</a:t>
                      </a:r>
                    </a:p>
                  </a:txBody>
                  <a:tcPr marL="54864" marR="54864" marT="27432" marB="27432">
                    <a:solidFill>
                      <a:srgbClr val="FFFFFF"/>
                    </a:solidFill>
                  </a:tcPr>
                </a:tc>
                <a:tc>
                  <a:txBody>
                    <a:bodyPr/>
                    <a:lstStyle/>
                    <a:p>
                      <a:r>
                        <a:rPr sz="1100" b="0">
                          <a:solidFill>
                            <a:srgbClr val="222222"/>
                          </a:solidFill>
                        </a:rPr>
                        <a:t>L</a:t>
                      </a:r>
                    </a:p>
                  </a:txBody>
                  <a:tcPr marL="54864" marR="54864" marT="27432" marB="27432">
                    <a:solidFill>
                      <a:srgbClr val="FFFFFF"/>
                    </a:solidFill>
                  </a:tcPr>
                </a:tc>
                <a:tc>
                  <a:txBody>
                    <a:bodyPr/>
                    <a:lstStyle/>
                    <a:p>
                      <a:r>
                        <a:rPr sz="1100" b="0">
                          <a:solidFill>
                            <a:srgbClr val="222222"/>
                          </a:solidFill>
                        </a:rPr>
                        <a:t>Interviews, later A/B</a:t>
                      </a:r>
                    </a:p>
                  </a:txBody>
                  <a:tcPr marL="54864" marR="54864" marT="27432" marB="27432">
                    <a:solidFill>
                      <a:srgbClr val="FFFFFF"/>
                    </a:solidFill>
                  </a:tcPr>
                </a:tc>
                <a:tc>
                  <a:txBody>
                    <a:bodyPr/>
                    <a:lstStyle/>
                    <a:p>
                      <a:r>
                        <a:rPr sz="1100" b="0">
                          <a:solidFill>
                            <a:srgbClr val="222222"/>
                          </a:solidFill>
                        </a:rPr>
                        <a:t>R15, R16</a:t>
                      </a:r>
                    </a:p>
                  </a:txBody>
                  <a:tcPr marL="54864" marR="54864" marT="27432" marB="27432">
                    <a:solidFill>
                      <a:srgbClr val="FFFFFF"/>
                    </a:solidFill>
                  </a:tcPr>
                </a:tc>
              </a:tr>
              <a:tr h="502920">
                <a:tc>
                  <a:txBody>
                    <a:bodyPr/>
                    <a:lstStyle/>
                    <a:p>
                      <a:r>
                        <a:rPr sz="1100" b="0">
                          <a:solidFill>
                            <a:srgbClr val="222222"/>
                          </a:solidFill>
                        </a:rPr>
                        <a:t>H07</a:t>
                      </a:r>
                    </a:p>
                  </a:txBody>
                  <a:tcPr marL="54864" marR="54864" marT="27432" marB="27432">
                    <a:solidFill>
                      <a:srgbClr val="EDF2F4"/>
                    </a:solidFill>
                  </a:tcPr>
                </a:tc>
                <a:tc>
                  <a:txBody>
                    <a:bodyPr/>
                    <a:lstStyle/>
                    <a:p>
                      <a:r>
                        <a:rPr sz="1100" b="0">
                          <a:solidFill>
                            <a:srgbClr val="222222"/>
                          </a:solidFill>
                        </a:rPr>
                        <a:t>Concrete safeguards beat superlatives</a:t>
                      </a:r>
                    </a:p>
                  </a:txBody>
                  <a:tcPr marL="54864" marR="54864" marT="27432" marB="27432">
                    <a:solidFill>
                      <a:srgbClr val="EDF2F4"/>
                    </a:solidFill>
                  </a:tcPr>
                </a:tc>
                <a:tc>
                  <a:txBody>
                    <a:bodyPr/>
                    <a:lstStyle/>
                    <a:p>
                      <a:r>
                        <a:rPr sz="1100" b="0">
                          <a:solidFill>
                            <a:srgbClr val="222222"/>
                          </a:solidFill>
                        </a:rPr>
                        <a:t>L–M</a:t>
                      </a:r>
                    </a:p>
                  </a:txBody>
                  <a:tcPr marL="54864" marR="54864" marT="27432" marB="27432">
                    <a:solidFill>
                      <a:srgbClr val="EDF2F4"/>
                    </a:solidFill>
                  </a:tcPr>
                </a:tc>
                <a:tc>
                  <a:txBody>
                    <a:bodyPr/>
                    <a:lstStyle/>
                    <a:p>
                      <a:r>
                        <a:rPr sz="1100" b="0">
                          <a:solidFill>
                            <a:srgbClr val="222222"/>
                          </a:solidFill>
                        </a:rPr>
                        <a:t>Usability (two heroes)</a:t>
                      </a:r>
                    </a:p>
                  </a:txBody>
                  <a:tcPr marL="54864" marR="54864" marT="27432" marB="27432">
                    <a:solidFill>
                      <a:srgbClr val="EDF2F4"/>
                    </a:solidFill>
                  </a:tcPr>
                </a:tc>
                <a:tc>
                  <a:txBody>
                    <a:bodyPr/>
                    <a:lstStyle/>
                    <a:p>
                      <a:r>
                        <a:rPr sz="1100" b="0">
                          <a:solidFill>
                            <a:srgbClr val="222222"/>
                          </a:solidFill>
                        </a:rPr>
                        <a:t>R14, R15</a:t>
                      </a:r>
                    </a:p>
                  </a:txBody>
                  <a:tcPr marL="54864" marR="54864" marT="27432" marB="27432">
                    <a:solidFill>
                      <a:srgbClr val="EDF2F4"/>
                    </a:solidFill>
                  </a:tcPr>
                </a:tc>
              </a:tr>
              <a:tr h="502920">
                <a:tc>
                  <a:txBody>
                    <a:bodyPr/>
                    <a:lstStyle/>
                    <a:p>
                      <a:r>
                        <a:rPr sz="1100" b="0">
                          <a:solidFill>
                            <a:srgbClr val="222222"/>
                          </a:solidFill>
                        </a:rPr>
                        <a:t>H08</a:t>
                      </a:r>
                    </a:p>
                  </a:txBody>
                  <a:tcPr marL="54864" marR="54864" marT="27432" marB="27432">
                    <a:solidFill>
                      <a:srgbClr val="FFFFFF"/>
                    </a:solidFill>
                  </a:tcPr>
                </a:tc>
                <a:tc>
                  <a:txBody>
                    <a:bodyPr/>
                    <a:lstStyle/>
                    <a:p>
                      <a:r>
                        <a:rPr sz="1100" b="0">
                          <a:solidFill>
                            <a:srgbClr val="222222"/>
                          </a:solidFill>
                        </a:rPr>
                        <a:t>Integrated route can win single-need women's health</a:t>
                      </a:r>
                    </a:p>
                  </a:txBody>
                  <a:tcPr marL="54864" marR="54864" marT="27432" marB="27432">
                    <a:solidFill>
                      <a:srgbClr val="FFFFFF"/>
                    </a:solidFill>
                  </a:tcPr>
                </a:tc>
                <a:tc>
                  <a:txBody>
                    <a:bodyPr/>
                    <a:lstStyle/>
                    <a:p>
                      <a:r>
                        <a:rPr sz="1100" b="0">
                          <a:solidFill>
                            <a:srgbClr val="222222"/>
                          </a:solidFill>
                        </a:rPr>
                        <a:t>L</a:t>
                      </a:r>
                    </a:p>
                  </a:txBody>
                  <a:tcPr marL="54864" marR="54864" marT="27432" marB="27432">
                    <a:solidFill>
                      <a:srgbClr val="FFFFFF"/>
                    </a:solidFill>
                  </a:tcPr>
                </a:tc>
                <a:tc>
                  <a:txBody>
                    <a:bodyPr/>
                    <a:lstStyle/>
                    <a:p>
                      <a:r>
                        <a:rPr sz="1100" b="0">
                          <a:solidFill>
                            <a:srgbClr val="222222"/>
                          </a:solidFill>
                        </a:rPr>
                        <a:t>Search Console, interviews</a:t>
                      </a:r>
                    </a:p>
                  </a:txBody>
                  <a:tcPr marL="54864" marR="54864" marT="27432" marB="27432">
                    <a:solidFill>
                      <a:srgbClr val="FFFFFF"/>
                    </a:solidFill>
                  </a:tcPr>
                </a:tc>
                <a:tc>
                  <a:txBody>
                    <a:bodyPr/>
                    <a:lstStyle/>
                    <a:p>
                      <a:r>
                        <a:rPr sz="1100" b="0">
                          <a:solidFill>
                            <a:srgbClr val="222222"/>
                          </a:solidFill>
                        </a:rPr>
                        <a:t>R17</a:t>
                      </a:r>
                    </a:p>
                  </a:txBody>
                  <a:tcPr marL="54864" marR="54864" marT="27432" marB="27432">
                    <a:solidFill>
                      <a:srgbClr val="FFFFFF"/>
                    </a:solidFill>
                  </a:tcPr>
                </a:tc>
              </a:tr>
              <a:tr h="502920">
                <a:tc>
                  <a:txBody>
                    <a:bodyPr/>
                    <a:lstStyle/>
                    <a:p>
                      <a:r>
                        <a:rPr sz="1100" b="0">
                          <a:solidFill>
                            <a:srgbClr val="222222"/>
                          </a:solidFill>
                        </a:rPr>
                        <a:t>H13</a:t>
                      </a:r>
                    </a:p>
                  </a:txBody>
                  <a:tcPr marL="54864" marR="54864" marT="27432" marB="27432">
                    <a:solidFill>
                      <a:srgbClr val="EDF2F4"/>
                    </a:solidFill>
                  </a:tcPr>
                </a:tc>
                <a:tc>
                  <a:txBody>
                    <a:bodyPr/>
                    <a:lstStyle/>
                    <a:p>
                      <a:r>
                        <a:rPr sz="1100" b="0">
                          <a:solidFill>
                            <a:srgbClr val="222222"/>
                          </a:solidFill>
                        </a:rPr>
                        <a:t>Verifiability matters more than setting</a:t>
                      </a:r>
                    </a:p>
                  </a:txBody>
                  <a:tcPr marL="54864" marR="54864" marT="27432" marB="27432">
                    <a:solidFill>
                      <a:srgbClr val="EDF2F4"/>
                    </a:solidFill>
                  </a:tcPr>
                </a:tc>
                <a:tc>
                  <a:txBody>
                    <a:bodyPr/>
                    <a:lstStyle/>
                    <a:p>
                      <a:r>
                        <a:rPr sz="1100" b="0">
                          <a:solidFill>
                            <a:srgbClr val="222222"/>
                          </a:solidFill>
                        </a:rPr>
                        <a:t>L</a:t>
                      </a:r>
                    </a:p>
                  </a:txBody>
                  <a:tcPr marL="54864" marR="54864" marT="27432" marB="27432">
                    <a:solidFill>
                      <a:srgbClr val="EDF2F4"/>
                    </a:solidFill>
                  </a:tcPr>
                </a:tc>
                <a:tc>
                  <a:txBody>
                    <a:bodyPr/>
                    <a:lstStyle/>
                    <a:p>
                      <a:r>
                        <a:rPr sz="1100" b="0">
                          <a:solidFill>
                            <a:srgbClr val="222222"/>
                          </a:solidFill>
                        </a:rPr>
                        <a:t>Interviews</a:t>
                      </a:r>
                    </a:p>
                  </a:txBody>
                  <a:tcPr marL="54864" marR="54864" marT="27432" marB="27432">
                    <a:solidFill>
                      <a:srgbClr val="EDF2F4"/>
                    </a:solidFill>
                  </a:tcPr>
                </a:tc>
                <a:tc>
                  <a:txBody>
                    <a:bodyPr/>
                    <a:lstStyle/>
                    <a:p>
                      <a:r>
                        <a:rPr sz="1100" b="0">
                          <a:solidFill>
                            <a:srgbClr val="222222"/>
                          </a:solidFill>
                        </a:rPr>
                        <a:t>Positioning</a:t>
                      </a:r>
                    </a:p>
                  </a:txBody>
                  <a:tcPr marL="54864" marR="54864" marT="27432" marB="27432">
                    <a:solidFill>
                      <a:srgbClr val="EDF2F4"/>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Risks and how we manage them</a:t>
            </a:r>
          </a:p>
        </p:txBody>
      </p:sp>
      <p:sp>
        <p:nvSpPr>
          <p:cNvPr id="4" name="TextBox 3"/>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implementation-roadmap.md; strategic-intelligence-report.md §13   |   The HVN strategy review · 15 Oct 2026 · 22</a:t>
            </a:r>
          </a:p>
        </p:txBody>
      </p:sp>
      <p:graphicFrame>
        <p:nvGraphicFramePr>
          <p:cNvPr id="5" name="Table 4"/>
          <p:cNvGraphicFramePr>
            <a:graphicFrameLocks noGrp="1"/>
          </p:cNvGraphicFramePr>
          <p:nvPr/>
        </p:nvGraphicFramePr>
        <p:xfrm>
          <a:off x="457200" y="1280160"/>
          <a:ext cx="11247120" cy="3968496"/>
        </p:xfrm>
        <a:graphic>
          <a:graphicData uri="http://schemas.openxmlformats.org/drawingml/2006/table">
            <a:tbl>
              <a:tblPr firstRow="1" bandRow="1">
                <a:tableStyleId>{5C22544A-7EE6-4342-B048-85BDC9FD1C3A}</a:tableStyleId>
              </a:tblPr>
              <a:tblGrid>
                <a:gridCol w="4754880"/>
                <a:gridCol w="6492240"/>
              </a:tblGrid>
              <a:tr h="566928">
                <a:tc>
                  <a:txBody>
                    <a:bodyPr/>
                    <a:lstStyle/>
                    <a:p>
                      <a:r>
                        <a:rPr sz="1300" b="1">
                          <a:solidFill>
                            <a:srgbClr val="FFFFFF"/>
                          </a:solidFill>
                        </a:rPr>
                        <a:t>Risk</a:t>
                      </a:r>
                    </a:p>
                  </a:txBody>
                  <a:tcPr marL="54864" marR="54864" marT="27432" marB="27432">
                    <a:solidFill>
                      <a:srgbClr val="1F3A5F"/>
                    </a:solidFill>
                  </a:tcPr>
                </a:tc>
                <a:tc>
                  <a:txBody>
                    <a:bodyPr/>
                    <a:lstStyle/>
                    <a:p>
                      <a:r>
                        <a:rPr sz="1300" b="1">
                          <a:solidFill>
                            <a:srgbClr val="FFFFFF"/>
                          </a:solidFill>
                        </a:rPr>
                        <a:t>Mitigation</a:t>
                      </a:r>
                    </a:p>
                  </a:txBody>
                  <a:tcPr marL="54864" marR="54864" marT="27432" marB="27432">
                    <a:solidFill>
                      <a:srgbClr val="1F3A5F"/>
                    </a:solidFill>
                  </a:tcPr>
                </a:tc>
              </a:tr>
              <a:tr h="566928">
                <a:tc>
                  <a:txBody>
                    <a:bodyPr/>
                    <a:lstStyle/>
                    <a:p>
                      <a:r>
                        <a:rPr sz="1300" b="0">
                          <a:solidFill>
                            <a:srgbClr val="222222"/>
                          </a:solidFill>
                        </a:rPr>
                        <a:t>CQC status differs from the earlier assumption</a:t>
                      </a:r>
                    </a:p>
                  </a:txBody>
                  <a:tcPr marL="54864" marR="54864" marT="27432" marB="27432">
                    <a:solidFill>
                      <a:srgbClr val="FFFFFF"/>
                    </a:solidFill>
                  </a:tcPr>
                </a:tc>
                <a:tc>
                  <a:txBody>
                    <a:bodyPr/>
                    <a:lstStyle/>
                    <a:p>
                      <a:r>
                        <a:rPr sz="1300" b="0">
                          <a:solidFill>
                            <a:srgbClr val="222222"/>
                          </a:solidFill>
                        </a:rPr>
                        <a:t>Verify at source before any wording is published (R05)</a:t>
                      </a:r>
                    </a:p>
                  </a:txBody>
                  <a:tcPr marL="54864" marR="54864" marT="27432" marB="27432">
                    <a:solidFill>
                      <a:srgbClr val="FFFFFF"/>
                    </a:solidFill>
                  </a:tcPr>
                </a:tc>
              </a:tr>
              <a:tr h="566928">
                <a:tc>
                  <a:txBody>
                    <a:bodyPr/>
                    <a:lstStyle/>
                    <a:p>
                      <a:r>
                        <a:rPr sz="1300" b="0">
                          <a:solidFill>
                            <a:srgbClr val="222222"/>
                          </a:solidFill>
                        </a:rPr>
                        <a:t>Claims review takes longer than 30 days</a:t>
                      </a:r>
                    </a:p>
                  </a:txBody>
                  <a:tcPr marL="54864" marR="54864" marT="27432" marB="27432">
                    <a:solidFill>
                      <a:srgbClr val="EDF2F4"/>
                    </a:solidFill>
                  </a:tcPr>
                </a:tc>
                <a:tc>
                  <a:txBody>
                    <a:bodyPr/>
                    <a:lstStyle/>
                    <a:p>
                      <a:r>
                        <a:rPr sz="1300" b="0">
                          <a:solidFill>
                            <a:srgbClr val="222222"/>
                          </a:solidFill>
                        </a:rPr>
                        <a:t>No new IV/longevity copy or paid media until done</a:t>
                      </a:r>
                    </a:p>
                  </a:txBody>
                  <a:tcPr marL="54864" marR="54864" marT="27432" marB="27432">
                    <a:solidFill>
                      <a:srgbClr val="EDF2F4"/>
                    </a:solidFill>
                  </a:tcPr>
                </a:tc>
              </a:tr>
              <a:tr h="566928">
                <a:tc>
                  <a:txBody>
                    <a:bodyPr/>
                    <a:lstStyle/>
                    <a:p>
                      <a:r>
                        <a:rPr sz="1300" b="0">
                          <a:solidFill>
                            <a:srgbClr val="222222"/>
                          </a:solidFill>
                        </a:rPr>
                        <a:t>Price ranges anchor clients wrongly</a:t>
                      </a:r>
                    </a:p>
                  </a:txBody>
                  <a:tcPr marL="54864" marR="54864" marT="27432" marB="27432">
                    <a:solidFill>
                      <a:srgbClr val="FFFFFF"/>
                    </a:solidFill>
                  </a:tcPr>
                </a:tc>
                <a:tc>
                  <a:txBody>
                    <a:bodyPr/>
                    <a:lstStyle/>
                    <a:p>
                      <a:r>
                        <a:rPr sz="1300" b="0">
                          <a:solidFill>
                            <a:srgbClr val="222222"/>
                          </a:solidFill>
                        </a:rPr>
                        <a:t>Base on 12 months of Pabau data; test wording first</a:t>
                      </a:r>
                    </a:p>
                  </a:txBody>
                  <a:tcPr marL="54864" marR="54864" marT="27432" marB="27432">
                    <a:solidFill>
                      <a:srgbClr val="FFFFFF"/>
                    </a:solidFill>
                  </a:tcPr>
                </a:tc>
              </a:tr>
              <a:tr h="566928">
                <a:tc>
                  <a:txBody>
                    <a:bodyPr/>
                    <a:lstStyle/>
                    <a:p>
                      <a:r>
                        <a:rPr sz="1300" b="0">
                          <a:solidFill>
                            <a:srgbClr val="222222"/>
                          </a:solidFill>
                        </a:rPr>
                        <a:t>Simulation-derived messaging misleads</a:t>
                      </a:r>
                    </a:p>
                  </a:txBody>
                  <a:tcPr marL="54864" marR="54864" marT="27432" marB="27432">
                    <a:solidFill>
                      <a:srgbClr val="EDF2F4"/>
                    </a:solidFill>
                  </a:tcPr>
                </a:tc>
                <a:tc>
                  <a:txBody>
                    <a:bodyPr/>
                    <a:lstStyle/>
                    <a:p>
                      <a:r>
                        <a:rPr sz="1300" b="0">
                          <a:solidFill>
                            <a:srgbClr val="222222"/>
                          </a:solidFill>
                        </a:rPr>
                        <a:t>Validation gates H06, H07, H13 before any proposition change</a:t>
                      </a:r>
                    </a:p>
                  </a:txBody>
                  <a:tcPr marL="54864" marR="54864" marT="27432" marB="27432">
                    <a:solidFill>
                      <a:srgbClr val="EDF2F4"/>
                    </a:solidFill>
                  </a:tcPr>
                </a:tc>
              </a:tr>
              <a:tr h="566928">
                <a:tc>
                  <a:txBody>
                    <a:bodyPr/>
                    <a:lstStyle/>
                    <a:p>
                      <a:r>
                        <a:rPr sz="1300" b="0">
                          <a:solidFill>
                            <a:srgbClr val="222222"/>
                          </a:solidFill>
                        </a:rPr>
                        <a:t>Competitor facts are stale</a:t>
                      </a:r>
                    </a:p>
                  </a:txBody>
                  <a:tcPr marL="54864" marR="54864" marT="27432" marB="27432">
                    <a:solidFill>
                      <a:srgbClr val="FFFFFF"/>
                    </a:solidFill>
                  </a:tcPr>
                </a:tc>
                <a:tc>
                  <a:txBody>
                    <a:bodyPr/>
                    <a:lstStyle/>
                    <a:p>
                      <a:r>
                        <a:rPr sz="1300" b="0">
                          <a:solidFill>
                            <a:srgbClr val="222222"/>
                          </a:solidFill>
                        </a:rPr>
                        <a:t>Quarterly verification at source (R24)</a:t>
                      </a:r>
                    </a:p>
                  </a:txBody>
                  <a:tcPr marL="54864" marR="54864" marT="27432" marB="27432">
                    <a:solidFill>
                      <a:srgbClr val="FFFFFF"/>
                    </a:solidFill>
                  </a:tcPr>
                </a:tc>
              </a:tr>
              <a:tr h="566928">
                <a:tc>
                  <a:txBody>
                    <a:bodyPr/>
                    <a:lstStyle/>
                    <a:p>
                      <a:r>
                        <a:rPr sz="1300" b="0">
                          <a:solidFill>
                            <a:srgbClr val="222222"/>
                          </a:solidFill>
                        </a:rPr>
                        <a:t>Website changes break booking links</a:t>
                      </a:r>
                    </a:p>
                  </a:txBody>
                  <a:tcPr marL="54864" marR="54864" marT="27432" marB="27432">
                    <a:solidFill>
                      <a:srgbClr val="EDF2F4"/>
                    </a:solidFill>
                  </a:tcPr>
                </a:tc>
                <a:tc>
                  <a:txBody>
                    <a:bodyPr/>
                    <a:lstStyle/>
                    <a:p>
                      <a:r>
                        <a:rPr sz="1300" b="0">
                          <a:solidFill>
                            <a:srgbClr val="222222"/>
                          </a:solidFill>
                        </a:rPr>
                        <a:t>QA checklist; re-crawl after every release</a:t>
                      </a:r>
                    </a:p>
                  </a:txBody>
                  <a:tcPr marL="54864" marR="54864" marT="27432" marB="27432">
                    <a:solidFill>
                      <a:srgbClr val="EDF2F4"/>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Decisions requested today</a:t>
            </a:r>
          </a:p>
        </p:txBody>
      </p:sp>
      <p:sp>
        <p:nvSpPr>
          <p:cNvPr id="4" name="TextBox 3"/>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strategic-intelligence-report.md §1.3   |   The HVN strategy review · 15 Oct 2026 · 23</a:t>
            </a:r>
          </a:p>
        </p:txBody>
      </p:sp>
      <p:sp>
        <p:nvSpPr>
          <p:cNvPr id="5" name="Rectangle 4"/>
          <p:cNvSpPr/>
          <p:nvPr/>
        </p:nvSpPr>
        <p:spPr>
          <a:xfrm>
            <a:off x="548640" y="1280160"/>
            <a:ext cx="548640" cy="54864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53312"/>
            <a:ext cx="548640" cy="457200"/>
          </a:xfrm>
          <a:prstGeom prst="rect">
            <a:avLst/>
          </a:prstGeom>
          <a:noFill/>
        </p:spPr>
        <p:txBody>
          <a:bodyPr wrap="square">
            <a:spAutoFit/>
          </a:bodyPr>
          <a:lstStyle/>
          <a:p>
            <a:pPr algn="ctr">
              <a:spcAft>
                <a:spcPts val="600"/>
              </a:spcAft>
            </a:pPr>
            <a:r>
              <a:rPr sz="2000" b="1">
                <a:solidFill>
                  <a:srgbClr val="FFFFFF"/>
                </a:solidFill>
              </a:rPr>
              <a:t>1</a:t>
            </a:r>
          </a:p>
        </p:txBody>
      </p:sp>
      <p:sp>
        <p:nvSpPr>
          <p:cNvPr id="7" name="TextBox 6"/>
          <p:cNvSpPr txBox="1"/>
          <p:nvPr/>
        </p:nvSpPr>
        <p:spPr>
          <a:xfrm>
            <a:off x="1280160" y="1371600"/>
            <a:ext cx="10332720" cy="640080"/>
          </a:xfrm>
          <a:prstGeom prst="rect">
            <a:avLst/>
          </a:prstGeom>
          <a:noFill/>
        </p:spPr>
        <p:txBody>
          <a:bodyPr wrap="square">
            <a:spAutoFit/>
          </a:bodyPr>
          <a:lstStyle/>
          <a:p>
            <a:pPr algn="l">
              <a:spcAft>
                <a:spcPts val="600"/>
              </a:spcAft>
            </a:pPr>
            <a:r>
              <a:rPr sz="1800" b="0">
                <a:solidFill>
                  <a:srgbClr val="222222"/>
                </a:solidFill>
              </a:rPr>
              <a:t>Approve the 30-day fix list: R01, R02, R06, R10 (website-change gate G4)</a:t>
            </a:r>
          </a:p>
        </p:txBody>
      </p:sp>
      <p:sp>
        <p:nvSpPr>
          <p:cNvPr id="8" name="Rectangle 7"/>
          <p:cNvSpPr/>
          <p:nvPr/>
        </p:nvSpPr>
        <p:spPr>
          <a:xfrm>
            <a:off x="548640" y="2103120"/>
            <a:ext cx="548640" cy="54864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76272"/>
            <a:ext cx="548640" cy="457200"/>
          </a:xfrm>
          <a:prstGeom prst="rect">
            <a:avLst/>
          </a:prstGeom>
          <a:noFill/>
        </p:spPr>
        <p:txBody>
          <a:bodyPr wrap="square">
            <a:spAutoFit/>
          </a:bodyPr>
          <a:lstStyle/>
          <a:p>
            <a:pPr algn="ctr">
              <a:spcAft>
                <a:spcPts val="600"/>
              </a:spcAft>
            </a:pPr>
            <a:r>
              <a:rPr sz="2000" b="1">
                <a:solidFill>
                  <a:srgbClr val="FFFFFF"/>
                </a:solidFill>
              </a:rPr>
              <a:t>2</a:t>
            </a:r>
          </a:p>
        </p:txBody>
      </p:sp>
      <p:sp>
        <p:nvSpPr>
          <p:cNvPr id="10" name="TextBox 9"/>
          <p:cNvSpPr txBox="1"/>
          <p:nvPr/>
        </p:nvSpPr>
        <p:spPr>
          <a:xfrm>
            <a:off x="1280160" y="2194560"/>
            <a:ext cx="10332720" cy="640080"/>
          </a:xfrm>
          <a:prstGeom prst="rect">
            <a:avLst/>
          </a:prstGeom>
          <a:noFill/>
        </p:spPr>
        <p:txBody>
          <a:bodyPr wrap="square">
            <a:spAutoFit/>
          </a:bodyPr>
          <a:lstStyle/>
          <a:p>
            <a:pPr algn="l">
              <a:spcAft>
                <a:spcPts val="600"/>
              </a:spcAft>
            </a:pPr>
            <a:r>
              <a:rPr sz="1800" b="0">
                <a:solidFill>
                  <a:srgbClr val="222222"/>
                </a:solidFill>
              </a:rPr>
              <a:t>Ask the registered manager to verify CQC status and scope at source (R05)</a:t>
            </a:r>
          </a:p>
        </p:txBody>
      </p:sp>
      <p:sp>
        <p:nvSpPr>
          <p:cNvPr id="11" name="Rectangle 10"/>
          <p:cNvSpPr/>
          <p:nvPr/>
        </p:nvSpPr>
        <p:spPr>
          <a:xfrm>
            <a:off x="548640" y="2926080"/>
            <a:ext cx="548640" cy="54864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999232"/>
            <a:ext cx="548640" cy="457200"/>
          </a:xfrm>
          <a:prstGeom prst="rect">
            <a:avLst/>
          </a:prstGeom>
          <a:noFill/>
        </p:spPr>
        <p:txBody>
          <a:bodyPr wrap="square">
            <a:spAutoFit/>
          </a:bodyPr>
          <a:lstStyle/>
          <a:p>
            <a:pPr algn="ctr">
              <a:spcAft>
                <a:spcPts val="600"/>
              </a:spcAft>
            </a:pPr>
            <a:r>
              <a:rPr sz="2000" b="1">
                <a:solidFill>
                  <a:srgbClr val="FFFFFF"/>
                </a:solidFill>
              </a:rPr>
              <a:t>3</a:t>
            </a:r>
          </a:p>
        </p:txBody>
      </p:sp>
      <p:sp>
        <p:nvSpPr>
          <p:cNvPr id="13" name="TextBox 12"/>
          <p:cNvSpPr txBox="1"/>
          <p:nvPr/>
        </p:nvSpPr>
        <p:spPr>
          <a:xfrm>
            <a:off x="1280160" y="3017520"/>
            <a:ext cx="10332720" cy="640080"/>
          </a:xfrm>
          <a:prstGeom prst="rect">
            <a:avLst/>
          </a:prstGeom>
          <a:noFill/>
        </p:spPr>
        <p:txBody>
          <a:bodyPr wrap="square">
            <a:spAutoFit/>
          </a:bodyPr>
          <a:lstStyle/>
          <a:p>
            <a:pPr algn="l">
              <a:spcAft>
                <a:spcPts val="600"/>
              </a:spcAft>
            </a:pPr>
            <a:r>
              <a:rPr sz="1800" b="0">
                <a:solidFill>
                  <a:srgbClr val="222222"/>
                </a:solidFill>
              </a:rPr>
              <a:t>Decide which programmes exist today; publish or redirect (R03)</a:t>
            </a:r>
          </a:p>
        </p:txBody>
      </p:sp>
      <p:sp>
        <p:nvSpPr>
          <p:cNvPr id="14" name="Rectangle 13"/>
          <p:cNvSpPr/>
          <p:nvPr/>
        </p:nvSpPr>
        <p:spPr>
          <a:xfrm>
            <a:off x="548640" y="3749039"/>
            <a:ext cx="548640" cy="54864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822191"/>
            <a:ext cx="548640" cy="457200"/>
          </a:xfrm>
          <a:prstGeom prst="rect">
            <a:avLst/>
          </a:prstGeom>
          <a:noFill/>
        </p:spPr>
        <p:txBody>
          <a:bodyPr wrap="square">
            <a:spAutoFit/>
          </a:bodyPr>
          <a:lstStyle/>
          <a:p>
            <a:pPr algn="ctr">
              <a:spcAft>
                <a:spcPts val="600"/>
              </a:spcAft>
            </a:pPr>
            <a:r>
              <a:rPr sz="2000" b="1">
                <a:solidFill>
                  <a:srgbClr val="FFFFFF"/>
                </a:solidFill>
              </a:rPr>
              <a:t>4</a:t>
            </a:r>
          </a:p>
        </p:txBody>
      </p:sp>
      <p:sp>
        <p:nvSpPr>
          <p:cNvPr id="16" name="TextBox 15"/>
          <p:cNvSpPr txBox="1"/>
          <p:nvPr/>
        </p:nvSpPr>
        <p:spPr>
          <a:xfrm>
            <a:off x="1280160" y="3840479"/>
            <a:ext cx="10332720" cy="640080"/>
          </a:xfrm>
          <a:prstGeom prst="rect">
            <a:avLst/>
          </a:prstGeom>
          <a:noFill/>
        </p:spPr>
        <p:txBody>
          <a:bodyPr wrap="square">
            <a:spAutoFit/>
          </a:bodyPr>
          <a:lstStyle/>
          <a:p>
            <a:pPr algn="l">
              <a:spcAft>
                <a:spcPts val="600"/>
              </a:spcAft>
            </a:pPr>
            <a:r>
              <a:rPr sz="1800" b="0">
                <a:solidFill>
                  <a:srgbClr val="222222"/>
                </a:solidFill>
              </a:rPr>
              <a:t>Approve an external CAP-code claims review (R04; quote needed)</a:t>
            </a:r>
          </a:p>
        </p:txBody>
      </p:sp>
      <p:sp>
        <p:nvSpPr>
          <p:cNvPr id="17" name="Rectangle 16"/>
          <p:cNvSpPr/>
          <p:nvPr/>
        </p:nvSpPr>
        <p:spPr>
          <a:xfrm>
            <a:off x="548640" y="4572000"/>
            <a:ext cx="548640" cy="54864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45152"/>
            <a:ext cx="548640" cy="457200"/>
          </a:xfrm>
          <a:prstGeom prst="rect">
            <a:avLst/>
          </a:prstGeom>
          <a:noFill/>
        </p:spPr>
        <p:txBody>
          <a:bodyPr wrap="square">
            <a:spAutoFit/>
          </a:bodyPr>
          <a:lstStyle/>
          <a:p>
            <a:pPr algn="ctr">
              <a:spcAft>
                <a:spcPts val="600"/>
              </a:spcAft>
            </a:pPr>
            <a:r>
              <a:rPr sz="2000" b="1">
                <a:solidFill>
                  <a:srgbClr val="FFFFFF"/>
                </a:solidFill>
              </a:rPr>
              <a:t>5</a:t>
            </a:r>
          </a:p>
        </p:txBody>
      </p:sp>
      <p:sp>
        <p:nvSpPr>
          <p:cNvPr id="19" name="TextBox 18"/>
          <p:cNvSpPr txBox="1"/>
          <p:nvPr/>
        </p:nvSpPr>
        <p:spPr>
          <a:xfrm>
            <a:off x="1280160" y="4663440"/>
            <a:ext cx="10332720" cy="640080"/>
          </a:xfrm>
          <a:prstGeom prst="rect">
            <a:avLst/>
          </a:prstGeom>
          <a:noFill/>
        </p:spPr>
        <p:txBody>
          <a:bodyPr wrap="square">
            <a:spAutoFit/>
          </a:bodyPr>
          <a:lstStyle/>
          <a:p>
            <a:pPr algn="l">
              <a:spcAft>
                <a:spcPts val="600"/>
              </a:spcAft>
            </a:pPr>
            <a:r>
              <a:rPr sz="1800" b="0">
                <a:solidFill>
                  <a:srgbClr val="222222"/>
                </a:solidFill>
              </a:rPr>
              <a:t>Set the consultation fee-credit policy (R08)</a:t>
            </a:r>
          </a:p>
        </p:txBody>
      </p:sp>
      <p:sp>
        <p:nvSpPr>
          <p:cNvPr id="20" name="Rectangle 19"/>
          <p:cNvSpPr/>
          <p:nvPr/>
        </p:nvSpPr>
        <p:spPr>
          <a:xfrm>
            <a:off x="548640" y="5394960"/>
            <a:ext cx="548640" cy="548640"/>
          </a:xfrm>
          <a:prstGeom prst="rect">
            <a:avLst/>
          </a:prstGeom>
          <a:solidFill>
            <a:srgbClr val="C85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468112"/>
            <a:ext cx="548640" cy="457200"/>
          </a:xfrm>
          <a:prstGeom prst="rect">
            <a:avLst/>
          </a:prstGeom>
          <a:noFill/>
        </p:spPr>
        <p:txBody>
          <a:bodyPr wrap="square">
            <a:spAutoFit/>
          </a:bodyPr>
          <a:lstStyle/>
          <a:p>
            <a:pPr algn="ctr">
              <a:spcAft>
                <a:spcPts val="600"/>
              </a:spcAft>
            </a:pPr>
            <a:r>
              <a:rPr sz="2000" b="1">
                <a:solidFill>
                  <a:srgbClr val="FFFFFF"/>
                </a:solidFill>
              </a:rPr>
              <a:t>6</a:t>
            </a:r>
          </a:p>
        </p:txBody>
      </p:sp>
      <p:sp>
        <p:nvSpPr>
          <p:cNvPr id="22" name="TextBox 21"/>
          <p:cNvSpPr txBox="1"/>
          <p:nvPr/>
        </p:nvSpPr>
        <p:spPr>
          <a:xfrm>
            <a:off x="1280160" y="5486400"/>
            <a:ext cx="10332720" cy="640080"/>
          </a:xfrm>
          <a:prstGeom prst="rect">
            <a:avLst/>
          </a:prstGeom>
          <a:noFill/>
        </p:spPr>
        <p:txBody>
          <a:bodyPr wrap="square">
            <a:spAutoFit/>
          </a:bodyPr>
          <a:lstStyle/>
          <a:p>
            <a:pPr algn="l">
              <a:spcAft>
                <a:spcPts val="600"/>
              </a:spcAft>
            </a:pPr>
            <a:r>
              <a:rPr sz="1800" b="0">
                <a:solidFill>
                  <a:srgbClr val="222222"/>
                </a:solidFill>
              </a:rPr>
              <a:t>Approve measurement setup and validation gates G1–G3 (≈ £1,000–£1,800)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lgn="l">
              <a:spcAft>
                <a:spcPts val="600"/>
              </a:spcAft>
            </a:pPr>
            <a:r>
              <a:rPr sz="2600" b="1">
                <a:solidFill>
                  <a:srgbClr val="FFFFFF"/>
                </a:solidFill>
              </a:rPr>
              <a:t>Appendix: files, sources and cost</a:t>
            </a:r>
          </a:p>
        </p:txBody>
      </p:sp>
      <p:sp>
        <p:nvSpPr>
          <p:cNvPr id="4" name="TextBox 3"/>
          <p:cNvSpPr txBox="1"/>
          <p:nvPr/>
        </p:nvSpPr>
        <p:spPr>
          <a:xfrm>
            <a:off x="457200" y="6446520"/>
            <a:ext cx="11247120" cy="320040"/>
          </a:xfrm>
          <a:prstGeom prst="rect">
            <a:avLst/>
          </a:prstGeom>
          <a:noFill/>
        </p:spPr>
        <p:txBody>
          <a:bodyPr wrap="square">
            <a:spAutoFit/>
          </a:bodyPr>
          <a:lstStyle/>
          <a:p>
            <a:pPr algn="l">
              <a:spcAft>
                <a:spcPts val="600"/>
              </a:spcAft>
            </a:pPr>
            <a:r>
              <a:rPr sz="900" b="0">
                <a:solidFill>
                  <a:srgbClr val="5C677D"/>
                </a:solidFill>
              </a:rPr>
              <a:t>Source: research/the-hvn/   |   The HVN strategy review · 15 Oct 2026 · 24</a:t>
            </a:r>
          </a:p>
        </p:txBody>
      </p:sp>
      <p:graphicFrame>
        <p:nvGraphicFramePr>
          <p:cNvPr id="5" name="Table 4"/>
          <p:cNvGraphicFramePr>
            <a:graphicFrameLocks noGrp="1"/>
          </p:cNvGraphicFramePr>
          <p:nvPr/>
        </p:nvGraphicFramePr>
        <p:xfrm>
          <a:off x="457200" y="1280160"/>
          <a:ext cx="6949440" cy="3950208"/>
        </p:xfrm>
        <a:graphic>
          <a:graphicData uri="http://schemas.openxmlformats.org/drawingml/2006/table">
            <a:tbl>
              <a:tblPr firstRow="1" bandRow="1">
                <a:tableStyleId>{5C22544A-7EE6-4342-B048-85BDC9FD1C3A}</a:tableStyleId>
              </a:tblPr>
              <a:tblGrid>
                <a:gridCol w="3108960"/>
                <a:gridCol w="3840480"/>
              </a:tblGrid>
              <a:tr h="438912">
                <a:tc>
                  <a:txBody>
                    <a:bodyPr/>
                    <a:lstStyle/>
                    <a:p>
                      <a:r>
                        <a:rPr sz="1100" b="1">
                          <a:solidFill>
                            <a:srgbClr val="FFFFFF"/>
                          </a:solidFill>
                        </a:rPr>
                        <a:t>File</a:t>
                      </a:r>
                    </a:p>
                  </a:txBody>
                  <a:tcPr marL="54864" marR="54864" marT="27432" marB="27432">
                    <a:solidFill>
                      <a:srgbClr val="1F3A5F"/>
                    </a:solidFill>
                  </a:tcPr>
                </a:tc>
                <a:tc>
                  <a:txBody>
                    <a:bodyPr/>
                    <a:lstStyle/>
                    <a:p>
                      <a:r>
                        <a:rPr sz="1100" b="1">
                          <a:solidFill>
                            <a:srgbClr val="FFFFFF"/>
                          </a:solidFill>
                        </a:rPr>
                        <a:t>Contents</a:t>
                      </a:r>
                    </a:p>
                  </a:txBody>
                  <a:tcPr marL="54864" marR="54864" marT="27432" marB="27432">
                    <a:solidFill>
                      <a:srgbClr val="1F3A5F"/>
                    </a:solidFill>
                  </a:tcPr>
                </a:tc>
              </a:tr>
              <a:tr h="438912">
                <a:tc>
                  <a:txBody>
                    <a:bodyPr/>
                    <a:lstStyle/>
                    <a:p>
                      <a:r>
                        <a:rPr sz="1100" b="0">
                          <a:solidFill>
                            <a:srgbClr val="222222"/>
                          </a:solidFill>
                        </a:rPr>
                        <a:t>strategic-intelligence-report.md</a:t>
                      </a:r>
                    </a:p>
                  </a:txBody>
                  <a:tcPr marL="54864" marR="54864" marT="27432" marB="27432">
                    <a:solidFill>
                      <a:srgbClr val="FFFFFF"/>
                    </a:solidFill>
                  </a:tcPr>
                </a:tc>
                <a:tc>
                  <a:txBody>
                    <a:bodyPr/>
                    <a:lstStyle/>
                    <a:p>
                      <a:r>
                        <a:rPr sz="1100" b="0">
                          <a:solidFill>
                            <a:srgbClr val="222222"/>
                          </a:solidFill>
                        </a:rPr>
                        <a:t>Full report v2.0</a:t>
                      </a:r>
                    </a:p>
                  </a:txBody>
                  <a:tcPr marL="54864" marR="54864" marT="27432" marB="27432">
                    <a:solidFill>
                      <a:srgbClr val="FFFFFF"/>
                    </a:solidFill>
                  </a:tcPr>
                </a:tc>
              </a:tr>
              <a:tr h="438912">
                <a:tc>
                  <a:txBody>
                    <a:bodyPr/>
                    <a:lstStyle/>
                    <a:p>
                      <a:r>
                        <a:rPr sz="1100" b="0">
                          <a:solidFill>
                            <a:srgbClr val="222222"/>
                          </a:solidFill>
                        </a:rPr>
                        <a:t>recommendations-register.md / .csv</a:t>
                      </a:r>
                    </a:p>
                  </a:txBody>
                  <a:tcPr marL="54864" marR="54864" marT="27432" marB="27432">
                    <a:solidFill>
                      <a:srgbClr val="EDF2F4"/>
                    </a:solidFill>
                  </a:tcPr>
                </a:tc>
                <a:tc>
                  <a:txBody>
                    <a:bodyPr/>
                    <a:lstStyle/>
                    <a:p>
                      <a:r>
                        <a:rPr sz="1100" b="0">
                          <a:solidFill>
                            <a:srgbClr val="222222"/>
                          </a:solidFill>
                        </a:rPr>
                        <a:t>24 recommendations</a:t>
                      </a:r>
                    </a:p>
                  </a:txBody>
                  <a:tcPr marL="54864" marR="54864" marT="27432" marB="27432">
                    <a:solidFill>
                      <a:srgbClr val="EDF2F4"/>
                    </a:solidFill>
                  </a:tcPr>
                </a:tc>
              </a:tr>
              <a:tr h="438912">
                <a:tc>
                  <a:txBody>
                    <a:bodyPr/>
                    <a:lstStyle/>
                    <a:p>
                      <a:r>
                        <a:rPr sz="1100" b="0">
                          <a:solidFill>
                            <a:srgbClr val="222222"/>
                          </a:solidFill>
                        </a:rPr>
                        <a:t>implementation-roadmap.md</a:t>
                      </a:r>
                    </a:p>
                  </a:txBody>
                  <a:tcPr marL="54864" marR="54864" marT="27432" marB="27432">
                    <a:solidFill>
                      <a:srgbClr val="FFFFFF"/>
                    </a:solidFill>
                  </a:tcPr>
                </a:tc>
                <a:tc>
                  <a:txBody>
                    <a:bodyPr/>
                    <a:lstStyle/>
                    <a:p>
                      <a:r>
                        <a:rPr sz="1100" b="0">
                          <a:solidFill>
                            <a:srgbClr val="222222"/>
                          </a:solidFill>
                        </a:rPr>
                        <a:t>30/60/90 plan</a:t>
                      </a:r>
                    </a:p>
                  </a:txBody>
                  <a:tcPr marL="54864" marR="54864" marT="27432" marB="27432">
                    <a:solidFill>
                      <a:srgbClr val="FFFFFF"/>
                    </a:solidFill>
                  </a:tcPr>
                </a:tc>
              </a:tr>
              <a:tr h="438912">
                <a:tc>
                  <a:txBody>
                    <a:bodyPr/>
                    <a:lstStyle/>
                    <a:p>
                      <a:r>
                        <a:rPr sz="1100" b="0">
                          <a:solidFill>
                            <a:srgbClr val="222222"/>
                          </a:solidFill>
                        </a:rPr>
                        <a:t>customer-journey-map.md</a:t>
                      </a:r>
                    </a:p>
                  </a:txBody>
                  <a:tcPr marL="54864" marR="54864" marT="27432" marB="27432">
                    <a:solidFill>
                      <a:srgbClr val="EDF2F4"/>
                    </a:solidFill>
                  </a:tcPr>
                </a:tc>
                <a:tc>
                  <a:txBody>
                    <a:bodyPr/>
                    <a:lstStyle/>
                    <a:p>
                      <a:r>
                        <a:rPr sz="1100" b="0">
                          <a:solidFill>
                            <a:srgbClr val="222222"/>
                          </a:solidFill>
                        </a:rPr>
                        <a:t>Journey and KPIs</a:t>
                      </a:r>
                    </a:p>
                  </a:txBody>
                  <a:tcPr marL="54864" marR="54864" marT="27432" marB="27432">
                    <a:solidFill>
                      <a:srgbClr val="EDF2F4"/>
                    </a:solidFill>
                  </a:tcPr>
                </a:tc>
              </a:tr>
              <a:tr h="438912">
                <a:tc>
                  <a:txBody>
                    <a:bodyPr/>
                    <a:lstStyle/>
                    <a:p>
                      <a:r>
                        <a:rPr sz="1100" b="0">
                          <a:solidFill>
                            <a:srgbClr val="222222"/>
                          </a:solidFill>
                        </a:rPr>
                        <a:t>competitor-benchmark.md / CSV</a:t>
                      </a:r>
                    </a:p>
                  </a:txBody>
                  <a:tcPr marL="54864" marR="54864" marT="27432" marB="27432">
                    <a:solidFill>
                      <a:srgbClr val="FFFFFF"/>
                    </a:solidFill>
                  </a:tcPr>
                </a:tc>
                <a:tc>
                  <a:txBody>
                    <a:bodyPr/>
                    <a:lstStyle/>
                    <a:p>
                      <a:r>
                        <a:rPr sz="1100" b="0">
                          <a:solidFill>
                            <a:srgbClr val="222222"/>
                          </a:solidFill>
                        </a:rPr>
                        <a:t>Verification status per fact</a:t>
                      </a:r>
                    </a:p>
                  </a:txBody>
                  <a:tcPr marL="54864" marR="54864" marT="27432" marB="27432">
                    <a:solidFill>
                      <a:srgbClr val="FFFFFF"/>
                    </a:solidFill>
                  </a:tcPr>
                </a:tc>
              </a:tr>
              <a:tr h="438912">
                <a:tc>
                  <a:txBody>
                    <a:bodyPr/>
                    <a:lstStyle/>
                    <a:p>
                      <a:r>
                        <a:rPr sz="1100" b="0">
                          <a:solidFill>
                            <a:srgbClr val="222222"/>
                          </a:solidFill>
                        </a:rPr>
                        <a:t>validation-plan.md</a:t>
                      </a:r>
                    </a:p>
                  </a:txBody>
                  <a:tcPr marL="54864" marR="54864" marT="27432" marB="27432">
                    <a:solidFill>
                      <a:srgbClr val="EDF2F4"/>
                    </a:solidFill>
                  </a:tcPr>
                </a:tc>
                <a:tc>
                  <a:txBody>
                    <a:bodyPr/>
                    <a:lstStyle/>
                    <a:p>
                      <a:r>
                        <a:rPr sz="1100" b="0">
                          <a:solidFill>
                            <a:srgbClr val="222222"/>
                          </a:solidFill>
                        </a:rPr>
                        <a:t>Hypotheses, methods, gates</a:t>
                      </a:r>
                    </a:p>
                  </a:txBody>
                  <a:tcPr marL="54864" marR="54864" marT="27432" marB="27432">
                    <a:solidFill>
                      <a:srgbClr val="EDF2F4"/>
                    </a:solidFill>
                  </a:tcPr>
                </a:tc>
              </a:tr>
              <a:tr h="438912">
                <a:tc>
                  <a:txBody>
                    <a:bodyPr/>
                    <a:lstStyle/>
                    <a:p>
                      <a:r>
                        <a:rPr sz="1100" b="0">
                          <a:solidFill>
                            <a:srgbClr val="222222"/>
                          </a:solidFill>
                        </a:rPr>
                        <a:t>report-audit.md</a:t>
                      </a:r>
                    </a:p>
                  </a:txBody>
                  <a:tcPr marL="54864" marR="54864" marT="27432" marB="27432">
                    <a:solidFill>
                      <a:srgbClr val="FFFFFF"/>
                    </a:solidFill>
                  </a:tcPr>
                </a:tc>
                <a:tc>
                  <a:txBody>
                    <a:bodyPr/>
                    <a:lstStyle/>
                    <a:p>
                      <a:r>
                        <a:rPr sz="1100" b="0">
                          <a:solidFill>
                            <a:srgbClr val="222222"/>
                          </a:solidFill>
                        </a:rPr>
                        <a:t>Audit of v1</a:t>
                      </a:r>
                    </a:p>
                  </a:txBody>
                  <a:tcPr marL="54864" marR="54864" marT="27432" marB="27432">
                    <a:solidFill>
                      <a:srgbClr val="FFFFFF"/>
                    </a:solidFill>
                  </a:tcPr>
                </a:tc>
              </a:tr>
              <a:tr h="438912">
                <a:tc>
                  <a:txBody>
                    <a:bodyPr/>
                    <a:lstStyle/>
                    <a:p>
                      <a:r>
                        <a:rPr sz="1100" b="0">
                          <a:solidFill>
                            <a:srgbClr val="222222"/>
                          </a:solidFill>
                        </a:rPr>
                        <a:t>evidence/, results/</a:t>
                      </a:r>
                    </a:p>
                  </a:txBody>
                  <a:tcPr marL="54864" marR="54864" marT="27432" marB="27432">
                    <a:solidFill>
                      <a:srgbClr val="EDF2F4"/>
                    </a:solidFill>
                  </a:tcPr>
                </a:tc>
                <a:tc>
                  <a:txBody>
                    <a:bodyPr/>
                    <a:lstStyle/>
                    <a:p>
                      <a:r>
                        <a:rPr sz="1100" b="0">
                          <a:solidFill>
                            <a:srgbClr val="222222"/>
                          </a:solidFill>
                        </a:rPr>
                        <a:t>Crawl data; simulation raw data</a:t>
                      </a:r>
                    </a:p>
                  </a:txBody>
                  <a:tcPr marL="54864" marR="54864" marT="27432" marB="27432">
                    <a:solidFill>
                      <a:srgbClr val="EDF2F4"/>
                    </a:solidFill>
                  </a:tcPr>
                </a:tc>
              </a:tr>
            </a:tbl>
          </a:graphicData>
        </a:graphic>
      </p:graphicFrame>
      <p:pic>
        <p:nvPicPr>
          <p:cNvPr id="6" name="Picture 5" descr="run-costs.png"/>
          <p:cNvPicPr>
            <a:picLocks noChangeAspect="1"/>
          </p:cNvPicPr>
          <p:nvPr/>
        </p:nvPicPr>
        <p:blipFill>
          <a:blip r:embed="rId3"/>
          <a:stretch>
            <a:fillRect/>
          </a:stretch>
        </p:blipFill>
        <p:spPr>
          <a:xfrm>
            <a:off x="7589520" y="1371600"/>
            <a:ext cx="4389120" cy="1975104"/>
          </a:xfrm>
          <a:prstGeom prst="rect">
            <a:avLst/>
          </a:prstGeom>
        </p:spPr>
      </p:pic>
      <p:sp>
        <p:nvSpPr>
          <p:cNvPr id="7" name="TextBox 6"/>
          <p:cNvSpPr txBox="1"/>
          <p:nvPr/>
        </p:nvSpPr>
        <p:spPr>
          <a:xfrm>
            <a:off x="7589520" y="3383280"/>
            <a:ext cx="4389120" cy="2286000"/>
          </a:xfrm>
          <a:prstGeom prst="rect">
            <a:avLst/>
          </a:prstGeom>
          <a:noFill/>
        </p:spPr>
        <p:txBody>
          <a:bodyPr wrap="square">
            <a:spAutoFit/>
          </a:bodyPr>
          <a:lstStyle/>
          <a:p>
            <a:pPr algn="l">
              <a:spcAft>
                <a:spcPts val="600"/>
              </a:spcAft>
            </a:pPr>
            <a:r>
              <a:rPr sz="1200" b="0">
                <a:solidFill>
                  <a:srgbClr val="5C677D"/>
                </a:solidFill>
              </a:rPr>
              <a:t>Simulation API cost: $0.713 for 6 runs (490 requests, 0 errors).</a:t>
            </a:r>
          </a:p>
          <a:p>
            <a:pPr algn="l">
              <a:spcAft>
                <a:spcPts val="600"/>
              </a:spcAft>
            </a:pPr>
            <a:r>
              <a:rPr sz="1200" b="0">
                <a:solidFill>
                  <a:srgbClr val="5C677D"/>
                </a:solidFill>
              </a:rPr>
              <a:t>This review: no new simulations, no paid API calls.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